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52b352e-a068-8bb1-8df1-2fe7fb93aa84}">
          <p14:sldIdLst>
            <p14:sldId id="256"/>
            <p14:sldId id="257"/>
            <p14:sldId id="258"/>
          </p14:sldIdLst>
        </p14:section>
        <p14:section name="Core features" id="{f5c88cc0-c513-2eb7-9f23-6308f98dbf82}">
          <p14:sldIdLst>
            <p14:sldId id="259"/>
            <p14:sldId id="260"/>
            <p14:sldId id="261"/>
            <p14:sldId id="262"/>
          </p14:sldIdLst>
        </p14:section>
        <p14:section name="Smart integrations" id="{7dbad934-ff08-188d-d60c-eb97cf88048b}">
          <p14:sldIdLst>
            <p14:sldId id="263"/>
            <p14:sldId id="264"/>
          </p14:sldIdLst>
        </p14:section>
        <p14:section name="Putting it together" id="{ad95c37f-cc28-f7c3-d606-e6ad8c5b503c}">
          <p14:sldIdLst>
            <p14:sldId id="265"/>
            <p14:sldId id="266"/>
            <p14:sldId id="267"/>
          </p14:sldIdLst>
        </p14:section>
        <p14:section name="Close" id="{d1c79869-0467-5437-1bfc-597de8406126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Packwise helps students walk out the door with everything they need. Introduce the name, then move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University students rush between lectures and labs. Common misses: ID cards, chargers, USB drives and assignment materials. Static lists and timetables each solve only half of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screens from the prototype, plus two new smart integrations: email sync and weather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steps: upload, AI extraction, manual correction. The pencil icon on each class block lets students adjust what the AI got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sections: priority daily essentials and schedule-dependent items. Checkboxes cross out and turn green; the progress bar shows how many items are packed.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departure has two toggles: a push notification 15 minutes before leaving, or a full alarm that asks whether everything is packed. The card on the right is the full alarm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community feed of found items. Search at the top, a prominent Report Found Item button, and cards with a photo placeholder, location, time and a Claim Item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feature. Packwise connects to the student’s university email with read-only permission, detects schedule updates (room changes, cancellations, new materials) and proposes changes to the schedule and packing list. The student confirms each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feature. A weather API is queried for the walking windows between classes. If conditions cross a threshold, Packwise suggests an item (umbrella, jacket, water bottle) and adds it to the packing list. Thresholds shown are starting points and can be tuned by the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summary diagram: the two new inputs (email, weather) join the schedule upload and community feed, and all feed the same packing list and reminders.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story slide: how the pieces work together over one morning. Times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is complete. The next phase adds the email and weather integrations. The campus-scale phase is a proposal for later. Stack names are illustrative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promise.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Packwise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554480"/>
            <a:ext cx="64008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02336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55448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Packwise</a:t>
            </a:r>
            <a:endParaRPr lang="en-US" sz="5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02336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Your schedule, your inbox and the weather forecast, working out what goes in your bag.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>
                    <a:alpha val="75000"/>
                  </a:schemeClr>
                </a:solidFill>
              </a:rPr>
              <a:t>A smart packing companion for university students</a:t>
            </a:r>
            <a:endParaRPr lang="en-US" sz="1600" dirty="0"/>
          </a:p>
        </p:txBody>
      </p:sp>
      <p:sp>
        <p:nvSpPr>
          <p:cNvPr id="5" name="Hero circle"/>
          <p:cNvSpPr/>
          <p:nvPr/>
        </p:nvSpPr>
        <p:spPr>
          <a:xfrm>
            <a:off x="7955280" y="1828800"/>
            <a:ext cx="3291840" cy="3291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Hero circle inner"/>
          <p:cNvSpPr/>
          <p:nvPr/>
        </p:nvSpPr>
        <p:spPr>
          <a:xfrm>
            <a:off x="8412480" y="2286000"/>
            <a:ext cx="2377440" cy="23774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Backpack icon" descr="Backpa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880360"/>
            <a:ext cx="1188720" cy="1188720"/>
          </a:xfrm>
          <a:prstGeom prst="rect">
            <a:avLst/>
          </a:prstGeom>
        </p:spPr>
      </p:pic>
      <p:sp>
        <p:nvSpPr>
          <p:cNvPr id="8" name="Chip Student ID"/>
          <p:cNvSpPr/>
          <p:nvPr/>
        </p:nvSpPr>
        <p:spPr>
          <a:xfrm>
            <a:off x="7223760" y="1234440"/>
            <a:ext cx="2011680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Icon circle LuIdCard"/>
          <p:cNvSpPr/>
          <p:nvPr/>
        </p:nvSpPr>
        <p:spPr>
          <a:xfrm>
            <a:off x="7306056" y="13167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LuIdCard" descr="LuIdC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1732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818120" y="12344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Student ID</a:t>
            </a:r>
            <a:endParaRPr lang="en-US" sz="1400" dirty="0"/>
          </a:p>
        </p:txBody>
      </p:sp>
      <p:sp>
        <p:nvSpPr>
          <p:cNvPr id="12" name="Chip Umbrella"/>
          <p:cNvSpPr/>
          <p:nvPr/>
        </p:nvSpPr>
        <p:spPr>
          <a:xfrm>
            <a:off x="9738360" y="960120"/>
            <a:ext cx="1828800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Icon circle LuUmbrella"/>
          <p:cNvSpPr/>
          <p:nvPr/>
        </p:nvSpPr>
        <p:spPr>
          <a:xfrm>
            <a:off x="9820656" y="1042416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4" name="LuUmbrella" descr="LuUmbrel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14300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332720" y="96012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Umbrella</a:t>
            </a:r>
            <a:endParaRPr lang="en-US" sz="1400" dirty="0"/>
          </a:p>
        </p:txBody>
      </p:sp>
      <p:sp>
        <p:nvSpPr>
          <p:cNvPr id="16" name="Chip Charger"/>
          <p:cNvSpPr/>
          <p:nvPr/>
        </p:nvSpPr>
        <p:spPr>
          <a:xfrm>
            <a:off x="7040880" y="4754880"/>
            <a:ext cx="1828800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Icon circle LuPlug"/>
          <p:cNvSpPr/>
          <p:nvPr/>
        </p:nvSpPr>
        <p:spPr>
          <a:xfrm>
            <a:off x="7123176" y="4837176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LuPlug" descr="LuPl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93776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35240" y="47548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Charger</a:t>
            </a:r>
            <a:endParaRPr lang="en-US" sz="1400" dirty="0"/>
          </a:p>
        </p:txBody>
      </p:sp>
      <p:sp>
        <p:nvSpPr>
          <p:cNvPr id="20" name="Chip USB drive"/>
          <p:cNvSpPr/>
          <p:nvPr/>
        </p:nvSpPr>
        <p:spPr>
          <a:xfrm>
            <a:off x="9646920" y="5074920"/>
            <a:ext cx="1920240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Icon circle LuUsb"/>
          <p:cNvSpPr/>
          <p:nvPr/>
        </p:nvSpPr>
        <p:spPr>
          <a:xfrm>
            <a:off x="9729216" y="5157216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LuUsb" descr="LuUs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5257800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241280" y="50749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USB drive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rushed morning means a forgotten essential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463040"/>
            <a:ext cx="3246120" cy="21945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4" name="Icon circle LuIdCard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uIdCard" descr="LuId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Student ID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Locked out at the lab door or exam hall.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4160520" y="1463040"/>
            <a:ext cx="3246120" cy="21945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9" name="Icon circle LuPlug"/>
          <p:cNvSpPr/>
          <p:nvPr/>
        </p:nvSpPr>
        <p:spPr>
          <a:xfrm>
            <a:off x="4434840" y="17373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LuPlug" descr="LuPl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8973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34840" y="2514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Charger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434840" y="2926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The laptop dies halfway through a lecture.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548640" y="3931920"/>
            <a:ext cx="3246120" cy="21945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14" name="Icon circle LuUsb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LuUsb" descr="LuUs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3662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983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USB drive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394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The assignment cannot be shown or submitted.</a:t>
            </a:r>
            <a:endParaRPr lang="en-US" sz="1400" dirty="0"/>
          </a:p>
        </p:txBody>
      </p:sp>
      <p:sp>
        <p:nvSpPr>
          <p:cNvPr id="18" name="Problem card 4"/>
          <p:cNvSpPr/>
          <p:nvPr/>
        </p:nvSpPr>
        <p:spPr>
          <a:xfrm>
            <a:off x="4160520" y="3931920"/>
            <a:ext cx="3246120" cy="21945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19" name="Icon circle LuFlaskConical"/>
          <p:cNvSpPr/>
          <p:nvPr/>
        </p:nvSpPr>
        <p:spPr>
          <a:xfrm>
            <a:off x="4434840" y="420624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LuFlaskConical" descr="LuFlaskConic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43662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434840" y="4983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Lab materials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4434840" y="5394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Turned away from the practical session.</a:t>
            </a:r>
            <a:endParaRPr lang="en-US" sz="1400" dirty="0"/>
          </a:p>
        </p:txBody>
      </p:sp>
      <p:sp>
        <p:nvSpPr>
          <p:cNvPr id="23" name="Gap panel"/>
          <p:cNvSpPr/>
          <p:nvPr/>
        </p:nvSpPr>
        <p:spPr>
          <a:xfrm>
            <a:off x="7772400" y="1463040"/>
            <a:ext cx="3867912" cy="466344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/>
        </p:spPr>
      </p:sp>
      <p:sp>
        <p:nvSpPr>
          <p:cNvPr id="24" name="Icon circle LuBackpack"/>
          <p:cNvSpPr/>
          <p:nvPr/>
        </p:nvSpPr>
        <p:spPr>
          <a:xfrm>
            <a:off x="8092440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LuBackpack" descr="LuBackpa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460" y="194310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092440" y="26060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Why a to-do list or a timetable isn't enough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8092440" y="37033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 to-do list doesn't know your timetable.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 timetable doesn't know what each class needs.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Neither knows about a moved room or a rainy morning.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Packwise: six features, one calm morning</a:t>
            </a:r>
            <a:endParaRPr lang="en-US" sz="3400" dirty="0"/>
          </a:p>
        </p:txBody>
      </p:sp>
      <p:sp>
        <p:nvSpPr>
          <p:cNvPr id="3" name="Feature card Smart schedule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4" name="Icon circle LuCalendarDays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uCalendarDays" descr="LuCalendarDa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Smart schedule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Upload a syllabus and AI pulls out classes and required items.</a:t>
            </a:r>
            <a:endParaRPr lang="en-US" sz="1400" dirty="0"/>
          </a:p>
        </p:txBody>
      </p:sp>
      <p:sp>
        <p:nvSpPr>
          <p:cNvPr id="8" name="Feature card Packing list"/>
          <p:cNvSpPr/>
          <p:nvPr/>
        </p:nvSpPr>
        <p:spPr>
          <a:xfrm>
            <a:off x="4315968" y="1463040"/>
            <a:ext cx="3566160" cy="21945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9" name="Icon circle LuListChecks"/>
          <p:cNvSpPr/>
          <p:nvPr/>
        </p:nvSpPr>
        <p:spPr>
          <a:xfrm>
            <a:off x="4590288" y="17373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LuListChecks" descr="LuList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18973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90288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Packing list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90288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Daily essentials plus items pulled from today’s classes.</a:t>
            </a:r>
            <a:endParaRPr lang="en-US" sz="1400" dirty="0"/>
          </a:p>
        </p:txBody>
      </p:sp>
      <p:sp>
        <p:nvSpPr>
          <p:cNvPr id="13" name="Feature card Smart reminders"/>
          <p:cNvSpPr/>
          <p:nvPr/>
        </p:nvSpPr>
        <p:spPr>
          <a:xfrm>
            <a:off x="8083296" y="1463040"/>
            <a:ext cx="3566160" cy="21945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14" name="Icon circle LuBellRing"/>
          <p:cNvSpPr/>
          <p:nvPr/>
        </p:nvSpPr>
        <p:spPr>
          <a:xfrm>
            <a:off x="8357616" y="173736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LuBellRing" descr="LuBellR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18973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57616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Smart reminders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57616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A gentle banner or a full alarm before you leave.</a:t>
            </a:r>
            <a:endParaRPr lang="en-US" sz="1400" dirty="0"/>
          </a:p>
        </p:txBody>
      </p:sp>
      <p:sp>
        <p:nvSpPr>
          <p:cNvPr id="18" name="Feature card Lost &amp; found"/>
          <p:cNvSpPr/>
          <p:nvPr/>
        </p:nvSpPr>
        <p:spPr>
          <a:xfrm>
            <a:off x="548640" y="3931920"/>
            <a:ext cx="3566160" cy="21945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19" name="Icon circle LuUsers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LuUsers" descr="Lu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662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Lost &amp; found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A campus feed to recover forgotten gear.</a:t>
            </a:r>
            <a:endParaRPr lang="en-US" sz="1400" dirty="0"/>
          </a:p>
        </p:txBody>
      </p:sp>
      <p:sp>
        <p:nvSpPr>
          <p:cNvPr id="23" name="Feature card Email sync"/>
          <p:cNvSpPr/>
          <p:nvPr/>
        </p:nvSpPr>
        <p:spPr>
          <a:xfrm>
            <a:off x="4315968" y="3931920"/>
            <a:ext cx="3566160" cy="21945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24" name="Icon circle LuMailCheck"/>
          <p:cNvSpPr/>
          <p:nvPr/>
        </p:nvSpPr>
        <p:spPr>
          <a:xfrm>
            <a:off x="4590288" y="42062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LuMailCheck" descr="LuMail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308" y="4366260"/>
            <a:ext cx="320040" cy="320040"/>
          </a:xfrm>
          <a:prstGeom prst="rect">
            <a:avLst/>
          </a:prstGeom>
        </p:spPr>
      </p:pic>
      <p:sp>
        <p:nvSpPr>
          <p:cNvPr id="26" name="Pill New"/>
          <p:cNvSpPr/>
          <p:nvPr/>
        </p:nvSpPr>
        <p:spPr>
          <a:xfrm>
            <a:off x="6967728" y="4206240"/>
            <a:ext cx="64008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967728" y="42062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New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4590288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Email sync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4590288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Schedule updates in your inbox adjust your list automatically.</a:t>
            </a:r>
            <a:endParaRPr lang="en-US" sz="1400" dirty="0"/>
          </a:p>
        </p:txBody>
      </p:sp>
      <p:sp>
        <p:nvSpPr>
          <p:cNvPr id="30" name="Feature card Weather alerts"/>
          <p:cNvSpPr/>
          <p:nvPr/>
        </p:nvSpPr>
        <p:spPr>
          <a:xfrm>
            <a:off x="8083296" y="3931920"/>
            <a:ext cx="3566160" cy="21945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31" name="Icon circle LuUmbrella"/>
          <p:cNvSpPr/>
          <p:nvPr/>
        </p:nvSpPr>
        <p:spPr>
          <a:xfrm>
            <a:off x="8357616" y="42062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2" name="LuUmbrella" descr="LuUmbrell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36" y="4366260"/>
            <a:ext cx="320040" cy="320040"/>
          </a:xfrm>
          <a:prstGeom prst="rect">
            <a:avLst/>
          </a:prstGeom>
        </p:spPr>
      </p:pic>
      <p:sp>
        <p:nvSpPr>
          <p:cNvPr id="33" name="Pill New"/>
          <p:cNvSpPr/>
          <p:nvPr/>
        </p:nvSpPr>
        <p:spPr>
          <a:xfrm>
            <a:off x="10735056" y="4206240"/>
            <a:ext cx="64008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10735056" y="42062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New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8357616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Weather alerts</a:t>
            </a:r>
            <a:endParaRPr lang="en-US" sz="2000" dirty="0"/>
          </a:p>
        </p:txBody>
      </p:sp>
      <p:sp>
        <p:nvSpPr>
          <p:cNvPr id="36" name="Text 28"/>
          <p:cNvSpPr txBox="1"/>
          <p:nvPr/>
        </p:nvSpPr>
        <p:spPr>
          <a:xfrm>
            <a:off x="8357616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The forecast tells you when an umbrella or jacket is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Import once and let AI read your timetable</a:t>
            </a:r>
            <a:endParaRPr lang="en-US" sz="3400" dirty="0"/>
          </a:p>
        </p:txBody>
      </p:sp>
      <p:sp>
        <p:nvSpPr>
          <p:cNvPr id="3" name="Icon circle LuUpload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LuUpload" descr="LuUp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79451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5087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Upload your syllabus or schedule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2011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>
                    <a:alpha val="65000"/>
                  </a:schemeClr>
                </a:solidFill>
              </a:rPr>
              <a:t>Drop in a PDF or Excel file. The AI Analyzer will automatically extract your classes and required items.</a:t>
            </a:r>
            <a:endParaRPr lang="en-US" sz="1600" dirty="0"/>
          </a:p>
        </p:txBody>
      </p:sp>
      <p:sp>
        <p:nvSpPr>
          <p:cNvPr id="7" name="Icon circle LuSparkles"/>
          <p:cNvSpPr/>
          <p:nvPr/>
        </p:nvSpPr>
        <p:spPr>
          <a:xfrm>
            <a:off x="548640" y="31546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LuSparkles" descr="LuSpark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348990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30632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AI builds your daily timeline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3566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>
                    <a:alpha val="65000"/>
                  </a:schemeClr>
                </a:solidFill>
              </a:rPr>
              <a:t>Each class appears with its time, room and the specific items it needs.</a:t>
            </a:r>
            <a:endParaRPr lang="en-US" sz="1600" dirty="0"/>
          </a:p>
        </p:txBody>
      </p:sp>
      <p:sp>
        <p:nvSpPr>
          <p:cNvPr id="11" name="Icon circle LuPencil"/>
          <p:cNvSpPr/>
          <p:nvPr/>
        </p:nvSpPr>
        <p:spPr>
          <a:xfrm>
            <a:off x="548640" y="470916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LuPencil" descr="LuPenc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90347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46177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Fix anything with one tap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5120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>
                    <a:alpha val="65000"/>
                  </a:schemeClr>
                </a:solidFill>
              </a:rPr>
              <a:t>Tap the pencil on a class to add or remove items. Your edits always win over the AI.</a:t>
            </a:r>
            <a:endParaRPr lang="en-US" sz="1600" dirty="0"/>
          </a:p>
        </p:txBody>
      </p:sp>
      <p:sp>
        <p:nvSpPr>
          <p:cNvPr id="15" name="Schedule phone frame"/>
          <p:cNvSpPr/>
          <p:nvPr/>
        </p:nvSpPr>
        <p:spPr>
          <a:xfrm>
            <a:off x="8778240" y="1417320"/>
            <a:ext cx="2514600" cy="4937760"/>
          </a:xfrm>
          <a:prstGeom prst="roundRect">
            <a:avLst>
              <a:gd name="adj" fmla="val 138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203200" dist="63500" dir="5400000">
              <a:srgbClr val="1B1840">
                <a:alpha val="30000"/>
              </a:srgbClr>
            </a:outerShdw>
          </a:effectLst>
        </p:spPr>
      </p:sp>
      <p:sp>
        <p:nvSpPr>
          <p:cNvPr id="16" name="Schedule phone screen"/>
          <p:cNvSpPr/>
          <p:nvPr/>
        </p:nvSpPr>
        <p:spPr>
          <a:xfrm>
            <a:off x="8869680" y="1508760"/>
            <a:ext cx="2331720" cy="475488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17" name="Schedule phone notch"/>
          <p:cNvSpPr/>
          <p:nvPr/>
        </p:nvSpPr>
        <p:spPr>
          <a:xfrm>
            <a:off x="9624060" y="1581912"/>
            <a:ext cx="822960" cy="1371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905256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Good morning, Alex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9052560" y="21488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</a:rPr>
              <a:t>Monday, 5 October</a:t>
            </a:r>
            <a:endParaRPr lang="en-US" sz="1000" dirty="0"/>
          </a:p>
        </p:txBody>
      </p:sp>
      <p:sp>
        <p:nvSpPr>
          <p:cNvPr id="20" name="Import card"/>
          <p:cNvSpPr/>
          <p:nvPr/>
        </p:nvSpPr>
        <p:spPr>
          <a:xfrm>
            <a:off x="9052560" y="2468880"/>
            <a:ext cx="1965960" cy="731520"/>
          </a:xfrm>
          <a:prstGeom prst="roundRect">
            <a:avLst>
              <a:gd name="adj" fmla="val 15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21" name="Icon circle LuUpload"/>
          <p:cNvSpPr/>
          <p:nvPr/>
        </p:nvSpPr>
        <p:spPr>
          <a:xfrm>
            <a:off x="9162288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LuUpload" descr="LuUplo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8" y="2743200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637776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Import schedule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9637776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</a:rPr>
              <a:t>AI extracts classes and items</a:t>
            </a:r>
            <a:endParaRPr lang="en-US" sz="1000" dirty="0"/>
          </a:p>
        </p:txBody>
      </p:sp>
      <p:sp>
        <p:nvSpPr>
          <p:cNvPr id="25" name="Class card 1"/>
          <p:cNvSpPr/>
          <p:nvPr/>
        </p:nvSpPr>
        <p:spPr>
          <a:xfrm>
            <a:off x="9052560" y="3337560"/>
            <a:ext cx="196596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9162288" y="3410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8:00 AM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162288" y="35844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Statistics Lecture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9162288" y="3785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</a:rPr>
              <a:t>Calculator, formula sheet</a:t>
            </a:r>
            <a:endParaRPr lang="en-US" sz="1000" dirty="0"/>
          </a:p>
        </p:txBody>
      </p:sp>
      <p:pic>
        <p:nvPicPr>
          <p:cNvPr id="29" name="Edit icon" descr="Edi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472" y="3429000"/>
            <a:ext cx="182880" cy="182880"/>
          </a:xfrm>
          <a:prstGeom prst="rect">
            <a:avLst/>
          </a:prstGeom>
        </p:spPr>
      </p:pic>
      <p:sp>
        <p:nvSpPr>
          <p:cNvPr id="30" name="Class card 2"/>
          <p:cNvSpPr/>
          <p:nvPr/>
        </p:nvSpPr>
        <p:spPr>
          <a:xfrm>
            <a:off x="9052560" y="4087368"/>
            <a:ext cx="196596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9162288" y="4160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10:00 AM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9162288" y="433425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Bio Lab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9162288" y="45354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</a:rPr>
              <a:t>Lab coat, goggles</a:t>
            </a:r>
            <a:endParaRPr lang="en-US" sz="1000" dirty="0"/>
          </a:p>
        </p:txBody>
      </p:sp>
      <p:pic>
        <p:nvPicPr>
          <p:cNvPr id="34" name="Edit icon" descr="Edi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4472" y="4178808"/>
            <a:ext cx="182880" cy="182880"/>
          </a:xfrm>
          <a:prstGeom prst="rect">
            <a:avLst/>
          </a:prstGeom>
        </p:spPr>
      </p:pic>
      <p:sp>
        <p:nvSpPr>
          <p:cNvPr id="35" name="Class card 3"/>
          <p:cNvSpPr/>
          <p:nvPr/>
        </p:nvSpPr>
        <p:spPr>
          <a:xfrm>
            <a:off x="9052560" y="4837176"/>
            <a:ext cx="196596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9162288" y="4910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2:00 PM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9162288" y="5084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CompSci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9162288" y="52852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</a:rPr>
              <a:t>USB drive, charger</a:t>
            </a:r>
            <a:endParaRPr lang="en-US" sz="1000" dirty="0"/>
          </a:p>
        </p:txBody>
      </p:sp>
      <p:pic>
        <p:nvPicPr>
          <p:cNvPr id="39" name="Edit icon" descr="Edi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4472" y="4928616"/>
            <a:ext cx="182880" cy="182880"/>
          </a:xfrm>
          <a:prstGeom prst="rect">
            <a:avLst/>
          </a:prstGeom>
        </p:spPr>
      </p:pic>
      <p:sp>
        <p:nvSpPr>
          <p:cNvPr id="40" name="Nav bar"/>
          <p:cNvSpPr/>
          <p:nvPr/>
        </p:nvSpPr>
        <p:spPr>
          <a:xfrm>
            <a:off x="8979408" y="5696712"/>
            <a:ext cx="2112264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41" name="Nav LuCalendarDays" descr="Nav LuCalendarDay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3713" y="5806440"/>
            <a:ext cx="219456" cy="219456"/>
          </a:xfrm>
          <a:prstGeom prst="rect">
            <a:avLst/>
          </a:prstGeom>
        </p:spPr>
      </p:pic>
      <p:pic>
        <p:nvPicPr>
          <p:cNvPr id="42" name="Nav LuListChecks" descr="Nav LuListCheck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1779" y="5806440"/>
            <a:ext cx="219456" cy="219456"/>
          </a:xfrm>
          <a:prstGeom prst="rect">
            <a:avLst/>
          </a:prstGeom>
        </p:spPr>
      </p:pic>
      <p:pic>
        <p:nvPicPr>
          <p:cNvPr id="43" name="Nav LuBell" descr="Nav LuBel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9845" y="5806440"/>
            <a:ext cx="219456" cy="219456"/>
          </a:xfrm>
          <a:prstGeom prst="rect">
            <a:avLst/>
          </a:prstGeom>
        </p:spPr>
      </p:pic>
      <p:pic>
        <p:nvPicPr>
          <p:cNvPr id="44" name="Nav LuUsers" descr="Nav LuUser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17911" y="5806440"/>
            <a:ext cx="219456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packing list that builds itself</a:t>
            </a:r>
            <a:endParaRPr lang="en-US" sz="3400" dirty="0"/>
          </a:p>
        </p:txBody>
      </p:sp>
      <p:sp>
        <p:nvSpPr>
          <p:cNvPr id="3" name="Packing phone frame"/>
          <p:cNvSpPr/>
          <p:nvPr/>
        </p:nvSpPr>
        <p:spPr>
          <a:xfrm>
            <a:off x="822960" y="1417320"/>
            <a:ext cx="2514600" cy="4937760"/>
          </a:xfrm>
          <a:prstGeom prst="roundRect">
            <a:avLst>
              <a:gd name="adj" fmla="val 138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203200" dist="63500" dir="5400000">
              <a:srgbClr val="1B1840">
                <a:alpha val="30000"/>
              </a:srgbClr>
            </a:outerShdw>
          </a:effectLst>
        </p:spPr>
      </p:sp>
      <p:sp>
        <p:nvSpPr>
          <p:cNvPr id="4" name="Packing phone screen"/>
          <p:cNvSpPr/>
          <p:nvPr/>
        </p:nvSpPr>
        <p:spPr>
          <a:xfrm>
            <a:off x="914400" y="1508760"/>
            <a:ext cx="2331720" cy="475488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5" name="Packing phone notch"/>
          <p:cNvSpPr/>
          <p:nvPr/>
        </p:nvSpPr>
        <p:spPr>
          <a:xfrm>
            <a:off x="1668780" y="1581912"/>
            <a:ext cx="822960" cy="1371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Packing list</a:t>
            </a:r>
            <a:endParaRPr lang="en-US" sz="1400" dirty="0"/>
          </a:p>
        </p:txBody>
      </p:sp>
      <p:sp>
        <p:nvSpPr>
          <p:cNvPr id="7" name="Progress card"/>
          <p:cNvSpPr/>
          <p:nvPr/>
        </p:nvSpPr>
        <p:spPr>
          <a:xfrm>
            <a:off x="1097280" y="2240280"/>
            <a:ext cx="1965960" cy="685800"/>
          </a:xfrm>
          <a:prstGeom prst="roundRect">
            <a:avLst>
              <a:gd name="adj" fmla="val 1333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07008" y="2313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7/9 items packed</a:t>
            </a:r>
            <a:endParaRPr lang="en-US" sz="1200" dirty="0"/>
          </a:p>
        </p:txBody>
      </p:sp>
      <p:sp>
        <p:nvSpPr>
          <p:cNvPr id="9" name="Progress track"/>
          <p:cNvSpPr/>
          <p:nvPr/>
        </p:nvSpPr>
        <p:spPr>
          <a:xfrm>
            <a:off x="1207008" y="2651760"/>
            <a:ext cx="1746504" cy="1280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0" name="Progress fill"/>
          <p:cNvSpPr/>
          <p:nvPr/>
        </p:nvSpPr>
        <p:spPr>
          <a:xfrm>
            <a:off x="1207008" y="2651760"/>
            <a:ext cx="1362273" cy="1280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0815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Daily essentials</a:t>
            </a:r>
            <a:endParaRPr lang="en-US" sz="1100" dirty="0"/>
          </a:p>
        </p:txBody>
      </p:sp>
      <p:sp>
        <p:nvSpPr>
          <p:cNvPr id="12" name="Checked box"/>
          <p:cNvSpPr/>
          <p:nvPr/>
        </p:nvSpPr>
        <p:spPr>
          <a:xfrm>
            <a:off x="1097280" y="3355848"/>
            <a:ext cx="201168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/>
        </p:spPr>
      </p:sp>
      <p:pic>
        <p:nvPicPr>
          <p:cNvPr id="13" name="Chec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3392424"/>
            <a:ext cx="128016" cy="12801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89888" y="3355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chemeClr val="tx1">
                    <a:alpha val="65000"/>
                  </a:schemeClr>
                </a:solidFill>
              </a:rPr>
              <a:t>Student ID card</a:t>
            </a:r>
            <a:endParaRPr lang="en-US" sz="1100" dirty="0"/>
          </a:p>
        </p:txBody>
      </p:sp>
      <p:pic>
        <p:nvPicPr>
          <p:cNvPr id="15" name="Priority star" descr="Priority s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364992"/>
            <a:ext cx="182880" cy="182880"/>
          </a:xfrm>
          <a:prstGeom prst="rect">
            <a:avLst/>
          </a:prstGeom>
        </p:spPr>
      </p:pic>
      <p:sp>
        <p:nvSpPr>
          <p:cNvPr id="16" name="Checked box"/>
          <p:cNvSpPr/>
          <p:nvPr/>
        </p:nvSpPr>
        <p:spPr>
          <a:xfrm>
            <a:off x="1097280" y="3685032"/>
            <a:ext cx="201168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/>
        </p:spPr>
      </p:sp>
      <p:pic>
        <p:nvPicPr>
          <p:cNvPr id="17" name="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3721608"/>
            <a:ext cx="128016" cy="1280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89888" y="3685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chemeClr val="tx1">
                    <a:alpha val="65000"/>
                  </a:schemeClr>
                </a:solidFill>
              </a:rPr>
              <a:t>Keys</a:t>
            </a:r>
            <a:endParaRPr lang="en-US" sz="1100" dirty="0"/>
          </a:p>
        </p:txBody>
      </p:sp>
      <p:pic>
        <p:nvPicPr>
          <p:cNvPr id="19" name="Priority star" descr="Priority 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3694176"/>
            <a:ext cx="182880" cy="182880"/>
          </a:xfrm>
          <a:prstGeom prst="rect">
            <a:avLst/>
          </a:prstGeom>
        </p:spPr>
      </p:pic>
      <p:sp>
        <p:nvSpPr>
          <p:cNvPr id="20" name="Checked box"/>
          <p:cNvSpPr/>
          <p:nvPr/>
        </p:nvSpPr>
        <p:spPr>
          <a:xfrm>
            <a:off x="1097280" y="4014216"/>
            <a:ext cx="201168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/>
        </p:spPr>
      </p:sp>
      <p:pic>
        <p:nvPicPr>
          <p:cNvPr id="21" name="Check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856" y="4050792"/>
            <a:ext cx="128016" cy="12801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89888" y="40142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chemeClr val="tx1">
                    <a:alpha val="65000"/>
                  </a:schemeClr>
                </a:solidFill>
              </a:rPr>
              <a:t>Phone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1097280" y="4434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From today's schedule</a:t>
            </a:r>
            <a:endParaRPr lang="en-US" sz="1100" dirty="0"/>
          </a:p>
        </p:txBody>
      </p:sp>
      <p:sp>
        <p:nvSpPr>
          <p:cNvPr id="24" name="Checked box"/>
          <p:cNvSpPr/>
          <p:nvPr/>
        </p:nvSpPr>
        <p:spPr>
          <a:xfrm>
            <a:off x="1097280" y="4709160"/>
            <a:ext cx="201168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/>
        </p:spPr>
      </p:sp>
      <p:pic>
        <p:nvPicPr>
          <p:cNvPr id="25" name="Check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856" y="4745736"/>
            <a:ext cx="128016" cy="12801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89888" y="4709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chemeClr val="tx1">
                    <a:alpha val="65000"/>
                  </a:schemeClr>
                </a:solidFill>
              </a:rPr>
              <a:t>Lab coat</a:t>
            </a:r>
            <a:endParaRPr lang="en-US" sz="1100" dirty="0"/>
          </a:p>
        </p:txBody>
      </p:sp>
      <p:sp>
        <p:nvSpPr>
          <p:cNvPr id="27" name="Empty box"/>
          <p:cNvSpPr/>
          <p:nvPr/>
        </p:nvSpPr>
        <p:spPr>
          <a:xfrm>
            <a:off x="1097280" y="5038344"/>
            <a:ext cx="201168" cy="201168"/>
          </a:xfrm>
          <a:prstGeom prst="roundRect">
            <a:avLst>
              <a:gd name="adj" fmla="val 22727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1389888" y="5038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USB drive</a:t>
            </a:r>
            <a:endParaRPr lang="en-US" sz="1100" dirty="0"/>
          </a:p>
        </p:txBody>
      </p:sp>
      <p:sp>
        <p:nvSpPr>
          <p:cNvPr id="29" name="Nav bar"/>
          <p:cNvSpPr/>
          <p:nvPr/>
        </p:nvSpPr>
        <p:spPr>
          <a:xfrm>
            <a:off x="1024128" y="5696712"/>
            <a:ext cx="2112264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30" name="Nav LuCalendarDays" descr="Nav LuCalendarDay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8433" y="5806440"/>
            <a:ext cx="219456" cy="219456"/>
          </a:xfrm>
          <a:prstGeom prst="rect">
            <a:avLst/>
          </a:prstGeom>
        </p:spPr>
      </p:pic>
      <p:pic>
        <p:nvPicPr>
          <p:cNvPr id="31" name="Nav LuListChecks" descr="Nav LuListCheck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6499" y="5806440"/>
            <a:ext cx="219456" cy="219456"/>
          </a:xfrm>
          <a:prstGeom prst="rect">
            <a:avLst/>
          </a:prstGeom>
        </p:spPr>
      </p:pic>
      <p:pic>
        <p:nvPicPr>
          <p:cNvPr id="32" name="Nav LuBell" descr="Nav LuBel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565" y="5806440"/>
            <a:ext cx="219456" cy="219456"/>
          </a:xfrm>
          <a:prstGeom prst="rect">
            <a:avLst/>
          </a:prstGeom>
        </p:spPr>
      </p:pic>
      <p:pic>
        <p:nvPicPr>
          <p:cNvPr id="33" name="Nav LuUsers" descr="Nav LuUser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2631" y="5806440"/>
            <a:ext cx="219456" cy="219456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114800" y="1417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7/9</a:t>
            </a:r>
            <a:endParaRPr lang="en-US" sz="7200" dirty="0"/>
          </a:p>
        </p:txBody>
      </p:sp>
      <p:sp>
        <p:nvSpPr>
          <p:cNvPr id="35" name="Text 23"/>
          <p:cNvSpPr txBox="1"/>
          <p:nvPr/>
        </p:nvSpPr>
        <p:spPr>
          <a:xfrm>
            <a:off x="6400800" y="1554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items packed. Tick things off and the progress bar turns green when your bag is ready.</a:t>
            </a:r>
            <a:endParaRPr lang="en-US" sz="1800" dirty="0"/>
          </a:p>
        </p:txBody>
      </p:sp>
      <p:sp>
        <p:nvSpPr>
          <p:cNvPr id="36" name="Packing card Daily essentials"/>
          <p:cNvSpPr/>
          <p:nvPr/>
        </p:nvSpPr>
        <p:spPr>
          <a:xfrm>
            <a:off x="4114800" y="2926080"/>
            <a:ext cx="3621024" cy="27432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37" name="Icon circle LuStar"/>
          <p:cNvSpPr/>
          <p:nvPr/>
        </p:nvSpPr>
        <p:spPr>
          <a:xfrm>
            <a:off x="4389120" y="32004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8" name="LuStar" descr="LuSta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9140" y="3360420"/>
            <a:ext cx="320040" cy="32004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438912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Daily essentials</a:t>
            </a:r>
            <a:endParaRPr lang="en-US" sz="2000" dirty="0"/>
          </a:p>
        </p:txBody>
      </p:sp>
      <p:sp>
        <p:nvSpPr>
          <p:cNvPr id="40" name="Text 27"/>
          <p:cNvSpPr txBox="1"/>
          <p:nvPr/>
        </p:nvSpPr>
        <p:spPr>
          <a:xfrm>
            <a:off x="438912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Student ID, phone, keys and wallet. Star the ones you can never leave without and they move to the top.</a:t>
            </a:r>
            <a:endParaRPr lang="en-US" sz="1400" dirty="0"/>
          </a:p>
        </p:txBody>
      </p:sp>
      <p:sp>
        <p:nvSpPr>
          <p:cNvPr id="41" name="Packing card From today's schedule"/>
          <p:cNvSpPr/>
          <p:nvPr/>
        </p:nvSpPr>
        <p:spPr>
          <a:xfrm>
            <a:off x="8019288" y="2926080"/>
            <a:ext cx="3621024" cy="27432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42" name="Icon circle LuCalendarDays"/>
          <p:cNvSpPr/>
          <p:nvPr/>
        </p:nvSpPr>
        <p:spPr>
          <a:xfrm>
            <a:off x="8293608" y="3200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3" name="LuCalendarDays" descr="LuCalendarDay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3628" y="3360420"/>
            <a:ext cx="320040" cy="32004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8293608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From today's schedule</a:t>
            </a:r>
            <a:endParaRPr lang="en-US" sz="2000" dirty="0"/>
          </a:p>
        </p:txBody>
      </p:sp>
      <p:sp>
        <p:nvSpPr>
          <p:cNvPr id="45" name="Text 31"/>
          <p:cNvSpPr txBox="1"/>
          <p:nvPr/>
        </p:nvSpPr>
        <p:spPr>
          <a:xfrm>
            <a:off x="8293608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Lab coat for Bio, USB drive for CompSci. Items come straight from your classes, so schedule edits flow through.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Reminders that arrive before you reach the door</a:t>
            </a:r>
            <a:endParaRPr lang="en-US" sz="3400" dirty="0"/>
          </a:p>
        </p:txBody>
      </p:sp>
      <p:sp>
        <p:nvSpPr>
          <p:cNvPr id="3" name="Departure card"/>
          <p:cNvSpPr/>
          <p:nvPr/>
        </p:nvSpPr>
        <p:spPr>
          <a:xfrm>
            <a:off x="548640" y="1463040"/>
            <a:ext cx="5760720" cy="178308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pic>
        <p:nvPicPr>
          <p:cNvPr id="4" name="Door icon" descr="Doo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>
                    <a:alpha val="80000"/>
                  </a:schemeClr>
                </a:solidFill>
              </a:rPr>
              <a:t>Next departure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194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7:45 AM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352044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Next class at 8:00 AM. Departure time: 7:45 AM.</a:t>
            </a:r>
            <a:endParaRPr lang="en-US" sz="1400" dirty="0"/>
          </a:p>
        </p:txBody>
      </p:sp>
      <p:sp>
        <p:nvSpPr>
          <p:cNvPr id="8" name="Option card Push notification"/>
          <p:cNvSpPr/>
          <p:nvPr/>
        </p:nvSpPr>
        <p:spPr>
          <a:xfrm>
            <a:off x="548640" y="3520440"/>
            <a:ext cx="5760720" cy="1143000"/>
          </a:xfrm>
          <a:prstGeom prst="roundRect">
            <a:avLst>
              <a:gd name="adj" fmla="val 14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9" name="Icon circle LuBell"/>
          <p:cNvSpPr/>
          <p:nvPr/>
        </p:nvSpPr>
        <p:spPr>
          <a:xfrm>
            <a:off x="822960" y="37673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LuBell" descr="Lu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92734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3721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Push notification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A gentle banner 15 minutes before you leave.</a:t>
            </a:r>
            <a:endParaRPr lang="en-US" sz="1400" dirty="0"/>
          </a:p>
        </p:txBody>
      </p:sp>
      <p:sp>
        <p:nvSpPr>
          <p:cNvPr id="13" name="Toggle on"/>
          <p:cNvSpPr/>
          <p:nvPr/>
        </p:nvSpPr>
        <p:spPr>
          <a:xfrm>
            <a:off x="5394960" y="3931920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oggle knob"/>
          <p:cNvSpPr/>
          <p:nvPr/>
        </p:nvSpPr>
        <p:spPr>
          <a:xfrm>
            <a:off x="5733288" y="3968496"/>
            <a:ext cx="256032" cy="25603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5" name="Option card Full alarm"/>
          <p:cNvSpPr/>
          <p:nvPr/>
        </p:nvSpPr>
        <p:spPr>
          <a:xfrm>
            <a:off x="548640" y="4846320"/>
            <a:ext cx="5760720" cy="1143000"/>
          </a:xfrm>
          <a:prstGeom prst="roundRect">
            <a:avLst>
              <a:gd name="adj" fmla="val 14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16" name="Icon circle LuAlarmClock"/>
          <p:cNvSpPr/>
          <p:nvPr/>
        </p:nvSpPr>
        <p:spPr>
          <a:xfrm>
            <a:off x="822960" y="5093208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LuAlarmClock" descr="LuAlarm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25322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91640" y="5047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Full alarm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691640" y="5440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A ringing alarm that asks "Is everything packed?"</a:t>
            </a:r>
            <a:endParaRPr lang="en-US" sz="1400" dirty="0"/>
          </a:p>
        </p:txBody>
      </p:sp>
      <p:sp>
        <p:nvSpPr>
          <p:cNvPr id="20" name="Toggle on"/>
          <p:cNvSpPr/>
          <p:nvPr/>
        </p:nvSpPr>
        <p:spPr>
          <a:xfrm>
            <a:off x="5394960" y="5257800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oggle knob"/>
          <p:cNvSpPr/>
          <p:nvPr/>
        </p:nvSpPr>
        <p:spPr>
          <a:xfrm>
            <a:off x="5733288" y="5294376"/>
            <a:ext cx="256032" cy="25603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85800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the full alarm looks like</a:t>
            </a:r>
            <a:endParaRPr lang="en-US" sz="1600" dirty="0"/>
          </a:p>
        </p:txBody>
      </p:sp>
      <p:sp>
        <p:nvSpPr>
          <p:cNvPr id="23" name="Alarm mock"/>
          <p:cNvSpPr/>
          <p:nvPr/>
        </p:nvSpPr>
        <p:spPr>
          <a:xfrm>
            <a:off x="6858000" y="1874520"/>
            <a:ext cx="4782312" cy="4206240"/>
          </a:xfrm>
          <a:prstGeom prst="roundRect">
            <a:avLst>
              <a:gd name="adj" fmla="val 5435"/>
            </a:avLst>
          </a:prstGeom>
          <a:solidFill>
            <a:schemeClr val="accent4">
              <a:alpha val="18000"/>
            </a:schemeClr>
          </a:solidFill>
          <a:ln w="31750">
            <a:solidFill>
              <a:schemeClr val="accent6"/>
            </a:solidFill>
            <a:prstDash val="solid"/>
          </a:ln>
        </p:spPr>
      </p:sp>
      <p:sp>
        <p:nvSpPr>
          <p:cNvPr id="24" name="Icon circle LuBellRing"/>
          <p:cNvSpPr/>
          <p:nvPr/>
        </p:nvSpPr>
        <p:spPr>
          <a:xfrm>
            <a:off x="8705088" y="2194560"/>
            <a:ext cx="1097280" cy="10972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5" name="LuBellRing" descr="LuBellR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246888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132320" y="3474720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7:45 AM. Time to leave for Statistics Lecture.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132320" y="379476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Is everything packed?</a:t>
            </a:r>
            <a:endParaRPr lang="en-US" sz="3000" dirty="0"/>
          </a:p>
        </p:txBody>
      </p:sp>
      <p:sp>
        <p:nvSpPr>
          <p:cNvPr id="28" name="Snooze button"/>
          <p:cNvSpPr/>
          <p:nvPr/>
        </p:nvSpPr>
        <p:spPr>
          <a:xfrm>
            <a:off x="7178040" y="4892040"/>
            <a:ext cx="1920240" cy="68580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178040" y="4892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Snooze</a:t>
            </a:r>
            <a:endParaRPr lang="en-US" sz="1800" dirty="0"/>
          </a:p>
        </p:txBody>
      </p:sp>
      <p:sp>
        <p:nvSpPr>
          <p:cNvPr id="30" name="Packed button"/>
          <p:cNvSpPr/>
          <p:nvPr/>
        </p:nvSpPr>
        <p:spPr>
          <a:xfrm>
            <a:off x="9281160" y="4892040"/>
            <a:ext cx="2103120" cy="68580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281160" y="4892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I'm packed!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When something is forgotten, the campus helps</a:t>
            </a:r>
            <a:endParaRPr lang="en-US" sz="3400" dirty="0"/>
          </a:p>
        </p:txBody>
      </p:sp>
      <p:sp>
        <p:nvSpPr>
          <p:cNvPr id="3" name="Lost and found card 1"/>
          <p:cNvSpPr/>
          <p:nvPr/>
        </p:nvSpPr>
        <p:spPr>
          <a:xfrm>
            <a:off x="548640" y="1463040"/>
            <a:ext cx="7680960" cy="1143000"/>
          </a:xfrm>
          <a:prstGeom prst="roundRect">
            <a:avLst>
              <a:gd name="adj" fmla="val 14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4" name="Icon circle LuPlus"/>
          <p:cNvSpPr/>
          <p:nvPr/>
        </p:nvSpPr>
        <p:spPr>
          <a:xfrm>
            <a:off x="822960" y="17099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uPlus" descr="LuPl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699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459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Report a found item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06654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>
                    <a:alpha val="65000"/>
                  </a:schemeClr>
                </a:solidFill>
              </a:rPr>
              <a:t>Name it, say where it is, and post it to the feed.</a:t>
            </a:r>
            <a:endParaRPr lang="en-US" sz="1500" dirty="0"/>
          </a:p>
        </p:txBody>
      </p:sp>
      <p:sp>
        <p:nvSpPr>
          <p:cNvPr id="8" name="Lost and found card 2"/>
          <p:cNvSpPr/>
          <p:nvPr/>
        </p:nvSpPr>
        <p:spPr>
          <a:xfrm>
            <a:off x="548640" y="2834640"/>
            <a:ext cx="7680960" cy="1143000"/>
          </a:xfrm>
          <a:prstGeom prst="roundRect">
            <a:avLst>
              <a:gd name="adj" fmla="val 14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9" name="Icon circle LuSearch"/>
          <p:cNvSpPr/>
          <p:nvPr/>
        </p:nvSpPr>
        <p:spPr>
          <a:xfrm>
            <a:off x="822960" y="308152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LuSearch" descr="Lu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24154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83080" y="3017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Search the feed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783080" y="343814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>
                    <a:alpha val="65000"/>
                  </a:schemeClr>
                </a:solidFill>
              </a:rPr>
              <a:t>Look for keys, ID cards or chargers by keyword.</a:t>
            </a:r>
            <a:endParaRPr lang="en-US" sz="1500" dirty="0"/>
          </a:p>
        </p:txBody>
      </p:sp>
      <p:sp>
        <p:nvSpPr>
          <p:cNvPr id="13" name="Lost and found card 3"/>
          <p:cNvSpPr/>
          <p:nvPr/>
        </p:nvSpPr>
        <p:spPr>
          <a:xfrm>
            <a:off x="548640" y="4206240"/>
            <a:ext cx="7680960" cy="1143000"/>
          </a:xfrm>
          <a:prstGeom prst="roundRect">
            <a:avLst>
              <a:gd name="adj" fmla="val 14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14" name="Icon circle LuHandHeart"/>
          <p:cNvSpPr/>
          <p:nvPr/>
        </p:nvSpPr>
        <p:spPr>
          <a:xfrm>
            <a:off x="822960" y="445312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LuHandHeart" descr="LuHandHe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61314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4389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Claim your item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80974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>
                    <a:alpha val="65000"/>
                  </a:schemeClr>
                </a:solidFill>
              </a:rPr>
              <a:t>Send a claim and arrange pickup with the finder.</a:t>
            </a:r>
            <a:endParaRPr lang="en-US" sz="1500" dirty="0"/>
          </a:p>
        </p:txBody>
      </p:sp>
      <p:sp>
        <p:nvSpPr>
          <p:cNvPr id="18" name="Callout"/>
          <p:cNvSpPr/>
          <p:nvPr/>
        </p:nvSpPr>
        <p:spPr>
          <a:xfrm>
            <a:off x="548640" y="5577840"/>
            <a:ext cx="7680960" cy="685800"/>
          </a:xfrm>
          <a:prstGeom prst="roundRect">
            <a:avLst>
              <a:gd name="adj" fmla="val 24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22960" y="55778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Closes the loop: even with a smart list, a lost USB drive can still find its way home.</a:t>
            </a:r>
            <a:endParaRPr lang="en-US" sz="1500" dirty="0"/>
          </a:p>
        </p:txBody>
      </p:sp>
      <p:sp>
        <p:nvSpPr>
          <p:cNvPr id="20" name="Lost and found phone frame"/>
          <p:cNvSpPr/>
          <p:nvPr/>
        </p:nvSpPr>
        <p:spPr>
          <a:xfrm>
            <a:off x="8778240" y="1417320"/>
            <a:ext cx="2514600" cy="4937760"/>
          </a:xfrm>
          <a:prstGeom prst="roundRect">
            <a:avLst>
              <a:gd name="adj" fmla="val 138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203200" dist="63500" dir="5400000">
              <a:srgbClr val="1B1840">
                <a:alpha val="30000"/>
              </a:srgbClr>
            </a:outerShdw>
          </a:effectLst>
        </p:spPr>
      </p:sp>
      <p:sp>
        <p:nvSpPr>
          <p:cNvPr id="21" name="Lost and found phone screen"/>
          <p:cNvSpPr/>
          <p:nvPr/>
        </p:nvSpPr>
        <p:spPr>
          <a:xfrm>
            <a:off x="8869680" y="1508760"/>
            <a:ext cx="2331720" cy="475488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22" name="Lost and found phone notch"/>
          <p:cNvSpPr/>
          <p:nvPr/>
        </p:nvSpPr>
        <p:spPr>
          <a:xfrm>
            <a:off x="9624060" y="1581912"/>
            <a:ext cx="822960" cy="1371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05256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Campus lost &amp; found</a:t>
            </a:r>
            <a:endParaRPr lang="en-US" sz="1300" dirty="0"/>
          </a:p>
        </p:txBody>
      </p:sp>
      <p:sp>
        <p:nvSpPr>
          <p:cNvPr id="24" name="Search bar"/>
          <p:cNvSpPr/>
          <p:nvPr/>
        </p:nvSpPr>
        <p:spPr>
          <a:xfrm>
            <a:off x="9052560" y="2240280"/>
            <a:ext cx="196596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25" name="Search icon" descr="Search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2322576"/>
            <a:ext cx="146304" cy="14630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81744" y="22402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</a:rPr>
              <a:t>Search keys, ID, charger</a:t>
            </a:r>
            <a:endParaRPr lang="en-US" sz="1000" dirty="0"/>
          </a:p>
        </p:txBody>
      </p:sp>
      <p:sp>
        <p:nvSpPr>
          <p:cNvPr id="27" name="Report button"/>
          <p:cNvSpPr/>
          <p:nvPr/>
        </p:nvSpPr>
        <p:spPr>
          <a:xfrm>
            <a:off x="9052560" y="2642616"/>
            <a:ext cx="19659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052560" y="26426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Report found item</a:t>
            </a:r>
            <a:endParaRPr lang="en-US" sz="1100" dirty="0"/>
          </a:p>
        </p:txBody>
      </p:sp>
      <p:sp>
        <p:nvSpPr>
          <p:cNvPr id="29" name="Image placeholder"/>
          <p:cNvSpPr/>
          <p:nvPr/>
        </p:nvSpPr>
        <p:spPr>
          <a:xfrm>
            <a:off x="9052560" y="3118104"/>
            <a:ext cx="1965960" cy="777240"/>
          </a:xfrm>
          <a:prstGeom prst="roundRect">
            <a:avLst>
              <a:gd name="adj" fmla="val 11765"/>
            </a:avLst>
          </a:prstGeom>
          <a:solidFill>
            <a:schemeClr val="tx1">
              <a:alpha val="10000"/>
            </a:schemeClr>
          </a:solidFill>
          <a:ln/>
        </p:spPr>
      </p:sp>
      <p:pic>
        <p:nvPicPr>
          <p:cNvPr id="30" name="Image icon" descr="Imag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2660" y="333756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052560" y="39593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Found: Blue USB Drive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9052560" y="41605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</a:rPr>
              <a:t>Left in Lecture Hall 3B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9052560" y="44348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</a:rPr>
              <a:t>12 min ago</a:t>
            </a:r>
            <a:endParaRPr lang="en-US" sz="1000" dirty="0"/>
          </a:p>
        </p:txBody>
      </p:sp>
      <p:sp>
        <p:nvSpPr>
          <p:cNvPr id="34" name="Pill Claim item"/>
          <p:cNvSpPr/>
          <p:nvPr/>
        </p:nvSpPr>
        <p:spPr>
          <a:xfrm>
            <a:off x="10104120" y="4407408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10104120" y="4407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Claim item</a:t>
            </a:r>
            <a:endParaRPr lang="en-US" sz="1000" dirty="0"/>
          </a:p>
        </p:txBody>
      </p:sp>
      <p:sp>
        <p:nvSpPr>
          <p:cNvPr id="36" name="Image placeholder 2"/>
          <p:cNvSpPr/>
          <p:nvPr/>
        </p:nvSpPr>
        <p:spPr>
          <a:xfrm>
            <a:off x="9052560" y="4800600"/>
            <a:ext cx="1965960" cy="640080"/>
          </a:xfrm>
          <a:prstGeom prst="roundRect">
            <a:avLst>
              <a:gd name="adj" fmla="val 14286"/>
            </a:avLst>
          </a:prstGeom>
          <a:solidFill>
            <a:schemeClr val="tx1">
              <a:alpha val="10000"/>
            </a:schemeClr>
          </a:solidFill>
          <a:ln/>
        </p:spPr>
      </p:sp>
      <p:sp>
        <p:nvSpPr>
          <p:cNvPr id="37" name="Nav bar"/>
          <p:cNvSpPr/>
          <p:nvPr/>
        </p:nvSpPr>
        <p:spPr>
          <a:xfrm>
            <a:off x="8979408" y="5696712"/>
            <a:ext cx="2112264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38" name="Nav LuCalendarDays" descr="Nav LuCalendarDay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713" y="5806440"/>
            <a:ext cx="219456" cy="219456"/>
          </a:xfrm>
          <a:prstGeom prst="rect">
            <a:avLst/>
          </a:prstGeom>
        </p:spPr>
      </p:pic>
      <p:pic>
        <p:nvPicPr>
          <p:cNvPr id="39" name="Nav LuListChecks" descr="Nav LuListCheck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1779" y="5806440"/>
            <a:ext cx="219456" cy="219456"/>
          </a:xfrm>
          <a:prstGeom prst="rect">
            <a:avLst/>
          </a:prstGeom>
        </p:spPr>
      </p:pic>
      <p:pic>
        <p:nvPicPr>
          <p:cNvPr id="40" name="Nav LuBell" descr="Nav LuBe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9845" y="5806440"/>
            <a:ext cx="219456" cy="219456"/>
          </a:xfrm>
          <a:prstGeom prst="rect">
            <a:avLst/>
          </a:prstGeom>
        </p:spPr>
      </p:pic>
      <p:pic>
        <p:nvPicPr>
          <p:cNvPr id="41" name="Nav LuUsers" descr="Nav LuUser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17911" y="5806440"/>
            <a:ext cx="219456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Your inbox keeps the list up to date</a:t>
            </a:r>
            <a:endParaRPr lang="en-US" sz="3400" dirty="0"/>
          </a:p>
        </p:txBody>
      </p:sp>
      <p:sp>
        <p:nvSpPr>
          <p:cNvPr id="3" name="Pill New"/>
          <p:cNvSpPr/>
          <p:nvPr/>
        </p:nvSpPr>
        <p:spPr>
          <a:xfrm>
            <a:off x="10698480" y="566928"/>
            <a:ext cx="91440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698480" y="5669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New</a:t>
            </a:r>
            <a:endParaRPr lang="en-US" sz="1400" dirty="0"/>
          </a:p>
        </p:txBody>
      </p:sp>
      <p:sp>
        <p:nvSpPr>
          <p:cNvPr id="5" name="Email mock"/>
          <p:cNvSpPr/>
          <p:nvPr/>
        </p:nvSpPr>
        <p:spPr>
          <a:xfrm>
            <a:off x="548640" y="1554480"/>
            <a:ext cx="3657600" cy="32918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6" name="Avatar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Dr. Patel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084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>
                    <a:alpha val="65000"/>
                  </a:schemeClr>
                </a:solidFill>
              </a:rPr>
              <a:t>Bio Lab coordinator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8288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>
                    <a:alpha val="65000"/>
                  </a:schemeClr>
                </a:solidFill>
              </a:rPr>
              <a:t>6:42 AM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Thursday lab moved to Lab 6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089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Hi all, we are in Lab 6 this week. Please bring a printed copy of the protocol.</a:t>
            </a:r>
            <a:endParaRPr lang="en-US" sz="1400" dirty="0"/>
          </a:p>
        </p:txBody>
      </p:sp>
      <p:sp>
        <p:nvSpPr>
          <p:cNvPr id="13" name="Arrow 1"/>
          <p:cNvSpPr/>
          <p:nvPr/>
        </p:nvSpPr>
        <p:spPr>
          <a:xfrm>
            <a:off x="4343400" y="2926080"/>
            <a:ext cx="640080" cy="457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4" name="AI circle"/>
          <p:cNvSpPr/>
          <p:nvPr/>
        </p:nvSpPr>
        <p:spPr>
          <a:xfrm>
            <a:off x="5394960" y="1783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parkles" descr="Spark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423160"/>
            <a:ext cx="640080" cy="6400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12064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Packwise reads it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120640" y="4206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Spots room changes, cancellations and new materials.</a:t>
            </a:r>
            <a:endParaRPr lang="en-US" sz="1400" dirty="0"/>
          </a:p>
        </p:txBody>
      </p:sp>
      <p:sp>
        <p:nvSpPr>
          <p:cNvPr id="18" name="Arrow 2"/>
          <p:cNvSpPr/>
          <p:nvPr/>
        </p:nvSpPr>
        <p:spPr>
          <a:xfrm>
            <a:off x="7680960" y="2926080"/>
            <a:ext cx="640080" cy="457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9" name="Applied card"/>
          <p:cNvSpPr/>
          <p:nvPr/>
        </p:nvSpPr>
        <p:spPr>
          <a:xfrm>
            <a:off x="8595360" y="1554480"/>
            <a:ext cx="3044952" cy="32918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86968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Applied to your day</a:t>
            </a:r>
            <a:endParaRPr lang="en-US" sz="1600" dirty="0"/>
          </a:p>
        </p:txBody>
      </p:sp>
      <p:sp>
        <p:nvSpPr>
          <p:cNvPr id="21" name="Icon circle LuMapPin"/>
          <p:cNvSpPr/>
          <p:nvPr/>
        </p:nvSpPr>
        <p:spPr>
          <a:xfrm>
            <a:off x="8869680" y="2331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LuMapPin" descr="LuMap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410" y="2457450"/>
            <a:ext cx="251460" cy="2514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509760" y="2313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Room updated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50976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65000"/>
                  </a:schemeClr>
                </a:solidFill>
              </a:rPr>
              <a:t>Lab 4 to Lab 6</a:t>
            </a:r>
            <a:endParaRPr lang="en-US" sz="1300" dirty="0"/>
          </a:p>
        </p:txBody>
      </p:sp>
      <p:sp>
        <p:nvSpPr>
          <p:cNvPr id="25" name="Icon circle LuFileText"/>
          <p:cNvSpPr/>
          <p:nvPr/>
        </p:nvSpPr>
        <p:spPr>
          <a:xfrm>
            <a:off x="8869680" y="31546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LuFileText" descr="LuFile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410" y="3280410"/>
            <a:ext cx="251460" cy="25146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509760" y="3136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Item added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950976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65000"/>
                  </a:schemeClr>
                </a:solidFill>
              </a:rPr>
              <a:t>Printed protocol</a:t>
            </a:r>
            <a:endParaRPr lang="en-US" sz="1300" dirty="0"/>
          </a:p>
        </p:txBody>
      </p:sp>
      <p:sp>
        <p:nvSpPr>
          <p:cNvPr id="29" name="Icon circle LuBell"/>
          <p:cNvSpPr/>
          <p:nvPr/>
        </p:nvSpPr>
        <p:spPr>
          <a:xfrm>
            <a:off x="8869680" y="39776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LuBell" descr="Lu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410" y="4103370"/>
            <a:ext cx="251460" cy="25146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509760" y="3959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Reminder kept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950976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65000"/>
                  </a:schemeClr>
                </a:solidFill>
              </a:rPr>
              <a:t>Departure still 9:40 AM</a:t>
            </a:r>
            <a:endParaRPr lang="en-US" sz="1300" dirty="0"/>
          </a:p>
        </p:txBody>
      </p:sp>
      <p:sp>
        <p:nvSpPr>
          <p:cNvPr id="33" name="Trust card 1"/>
          <p:cNvSpPr/>
          <p:nvPr/>
        </p:nvSpPr>
        <p:spPr>
          <a:xfrm>
            <a:off x="548640" y="5166360"/>
            <a:ext cx="3566160" cy="1051560"/>
          </a:xfrm>
          <a:prstGeom prst="roundRect">
            <a:avLst>
              <a:gd name="adj" fmla="val 13043"/>
            </a:avLst>
          </a:prstGeom>
          <a:solidFill>
            <a:schemeClr val="accent1">
              <a:alpha val="10000"/>
            </a:schemeClr>
          </a:solidFill>
          <a:ln/>
        </p:spPr>
      </p:sp>
      <p:pic>
        <p:nvPicPr>
          <p:cNvPr id="34" name="Trust icon" descr="Trus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04688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325880" y="51663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Read-only inbox access through a Gmail or Outlook sign-in.</a:t>
            </a:r>
            <a:endParaRPr lang="en-US" sz="1400" dirty="0"/>
          </a:p>
        </p:txBody>
      </p:sp>
      <p:sp>
        <p:nvSpPr>
          <p:cNvPr id="36" name="Trust card 2"/>
          <p:cNvSpPr/>
          <p:nvPr/>
        </p:nvSpPr>
        <p:spPr>
          <a:xfrm>
            <a:off x="4297680" y="5166360"/>
            <a:ext cx="3566160" cy="1051560"/>
          </a:xfrm>
          <a:prstGeom prst="roundRect">
            <a:avLst>
              <a:gd name="adj" fmla="val 13043"/>
            </a:avLst>
          </a:prstGeom>
          <a:solidFill>
            <a:schemeClr val="accent1">
              <a:alpha val="10000"/>
            </a:schemeClr>
          </a:solidFill>
          <a:ln/>
        </p:spPr>
      </p:sp>
      <p:pic>
        <p:nvPicPr>
          <p:cNvPr id="37" name="Trust icon" descr="Trus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5504688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074920" y="51663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senders you approve, such as lecturers and the registrar.</a:t>
            </a:r>
            <a:endParaRPr lang="en-US" sz="1400" dirty="0"/>
          </a:p>
        </p:txBody>
      </p:sp>
      <p:sp>
        <p:nvSpPr>
          <p:cNvPr id="39" name="Trust card 3"/>
          <p:cNvSpPr/>
          <p:nvPr/>
        </p:nvSpPr>
        <p:spPr>
          <a:xfrm>
            <a:off x="8046720" y="5166360"/>
            <a:ext cx="3566160" cy="1051560"/>
          </a:xfrm>
          <a:prstGeom prst="roundRect">
            <a:avLst>
              <a:gd name="adj" fmla="val 13043"/>
            </a:avLst>
          </a:prstGeom>
          <a:solidFill>
            <a:schemeClr val="accent1">
              <a:alpha val="10000"/>
            </a:schemeClr>
          </a:solidFill>
          <a:ln/>
        </p:spPr>
      </p:sp>
      <p:pic>
        <p:nvPicPr>
          <p:cNvPr id="40" name="Trust icon" descr="Trus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5504688"/>
            <a:ext cx="365760" cy="36576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823960" y="51663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confirm each change before it touches your list.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forecast decides if you need an umbrella</a:t>
            </a:r>
            <a:endParaRPr lang="en-US" sz="3400" dirty="0"/>
          </a:p>
        </p:txBody>
      </p:sp>
      <p:sp>
        <p:nvSpPr>
          <p:cNvPr id="3" name="Pill New"/>
          <p:cNvSpPr/>
          <p:nvPr/>
        </p:nvSpPr>
        <p:spPr>
          <a:xfrm>
            <a:off x="10698480" y="566928"/>
            <a:ext cx="91440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698480" y="5669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New</a:t>
            </a:r>
            <a:endParaRPr lang="en-US" sz="1400" dirty="0"/>
          </a:p>
        </p:txBody>
      </p:sp>
      <p:sp>
        <p:nvSpPr>
          <p:cNvPr id="5" name="Weather rule 1"/>
          <p:cNvSpPr/>
          <p:nvPr/>
        </p:nvSpPr>
        <p:spPr>
          <a:xfrm>
            <a:off x="548640" y="1463040"/>
            <a:ext cx="6035040" cy="1005840"/>
          </a:xfrm>
          <a:prstGeom prst="roundRect">
            <a:avLst>
              <a:gd name="adj" fmla="val 1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6" name="Icon circle LuCloudRain"/>
          <p:cNvSpPr/>
          <p:nvPr/>
        </p:nvSpPr>
        <p:spPr>
          <a:xfrm>
            <a:off x="777240" y="1664208"/>
            <a:ext cx="603504" cy="60350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LuCloudRain" descr="LuCloudR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8150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627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Rain likely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65000"/>
                  </a:schemeClr>
                </a:solidFill>
              </a:rPr>
              <a:t>40% chance or more on your walks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1463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Umbrella, rain jacket</a:t>
            </a:r>
            <a:endParaRPr lang="en-US" sz="1400" dirty="0"/>
          </a:p>
        </p:txBody>
      </p:sp>
      <p:sp>
        <p:nvSpPr>
          <p:cNvPr id="11" name="Weather rule 2"/>
          <p:cNvSpPr/>
          <p:nvPr/>
        </p:nvSpPr>
        <p:spPr>
          <a:xfrm>
            <a:off x="548640" y="2651760"/>
            <a:ext cx="6035040" cy="1005840"/>
          </a:xfrm>
          <a:prstGeom prst="roundRect">
            <a:avLst>
              <a:gd name="adj" fmla="val 1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12" name="Icon circle LuSun"/>
          <p:cNvSpPr/>
          <p:nvPr/>
        </p:nvSpPr>
        <p:spPr>
          <a:xfrm>
            <a:off x="777240" y="2852928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LuSun" descr="LuSu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300380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00200" y="2816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Hot day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600200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65000"/>
                  </a:schemeClr>
                </a:solidFill>
              </a:rPr>
              <a:t>Above 30°C during the day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206240" y="2651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Water bottle, sun hat</a:t>
            </a:r>
            <a:endParaRPr lang="en-US" sz="1400" dirty="0"/>
          </a:p>
        </p:txBody>
      </p:sp>
      <p:sp>
        <p:nvSpPr>
          <p:cNvPr id="17" name="Weather rule 3"/>
          <p:cNvSpPr/>
          <p:nvPr/>
        </p:nvSpPr>
        <p:spPr>
          <a:xfrm>
            <a:off x="548640" y="3840480"/>
            <a:ext cx="6035040" cy="1005840"/>
          </a:xfrm>
          <a:prstGeom prst="roundRect">
            <a:avLst>
              <a:gd name="adj" fmla="val 1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18" name="Icon circle LuThermometerSnowflake"/>
          <p:cNvSpPr/>
          <p:nvPr/>
        </p:nvSpPr>
        <p:spPr>
          <a:xfrm>
            <a:off x="777240" y="404164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LuThermometerSnowflake" descr="LuThermometerSnowfl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419252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00200" y="4005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Cold snap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160020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65000"/>
                  </a:schemeClr>
                </a:solidFill>
              </a:rPr>
              <a:t>Below 12°C at departure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206240" y="3840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Warm jacket, gloves</a:t>
            </a:r>
            <a:endParaRPr lang="en-US" sz="1400" dirty="0"/>
          </a:p>
        </p:txBody>
      </p:sp>
      <p:sp>
        <p:nvSpPr>
          <p:cNvPr id="23" name="Weather rule 4"/>
          <p:cNvSpPr/>
          <p:nvPr/>
        </p:nvSpPr>
        <p:spPr>
          <a:xfrm>
            <a:off x="548640" y="5029200"/>
            <a:ext cx="6035040" cy="1005840"/>
          </a:xfrm>
          <a:prstGeom prst="roundRect">
            <a:avLst>
              <a:gd name="adj" fmla="val 1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24" name="Icon circle LuCloudLightning"/>
          <p:cNvSpPr/>
          <p:nvPr/>
        </p:nvSpPr>
        <p:spPr>
          <a:xfrm>
            <a:off x="777240" y="5230368"/>
            <a:ext cx="603504" cy="60350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5" name="LuCloudLightning" descr="LuCloudLightn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538124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00200" y="5193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Storm or strong wind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1600200" y="5532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65000"/>
                  </a:schemeClr>
                </a:solidFill>
              </a:rPr>
              <a:t>Warning issued for campus area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4206240" y="5029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Waterproof laptop sleeve</a:t>
            </a:r>
            <a:endParaRPr lang="en-US" sz="1400" dirty="0"/>
          </a:p>
        </p:txBody>
      </p:sp>
      <p:sp>
        <p:nvSpPr>
          <p:cNvPr id="29" name="Weather notification"/>
          <p:cNvSpPr/>
          <p:nvPr/>
        </p:nvSpPr>
        <p:spPr>
          <a:xfrm>
            <a:off x="6949440" y="1463040"/>
            <a:ext cx="4690872" cy="2286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30" name="Icon circle LuUmbrella"/>
          <p:cNvSpPr/>
          <p:nvPr/>
        </p:nvSpPr>
        <p:spPr>
          <a:xfrm>
            <a:off x="7223760" y="17373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1" name="LuUmbrella" descr="LuUmbrell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87452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909560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Packwise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10607040" y="17373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>
                    <a:alpha val="65000"/>
                  </a:schemeClr>
                </a:solidFill>
              </a:rPr>
              <a:t>7:30 AM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79095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Rain expected around 10:15 AM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722376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Bring an umbrella for your walk to Bio Lab.</a:t>
            </a:r>
            <a:endParaRPr lang="en-US" sz="1400" dirty="0"/>
          </a:p>
        </p:txBody>
      </p:sp>
      <p:sp>
        <p:nvSpPr>
          <p:cNvPr id="36" name="Add button"/>
          <p:cNvSpPr/>
          <p:nvPr/>
        </p:nvSpPr>
        <p:spPr>
          <a:xfrm>
            <a:off x="7223760" y="3017520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22376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Add to list</a:t>
            </a:r>
            <a:endParaRPr lang="en-US" sz="1400" dirty="0"/>
          </a:p>
        </p:txBody>
      </p:sp>
      <p:sp>
        <p:nvSpPr>
          <p:cNvPr id="38" name="Dismiss button"/>
          <p:cNvSpPr/>
          <p:nvPr/>
        </p:nvSpPr>
        <p:spPr>
          <a:xfrm>
            <a:off x="9144000" y="301752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914400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Dismiss</a:t>
            </a:r>
            <a:endParaRPr lang="en-US" sz="1400" dirty="0"/>
          </a:p>
        </p:txBody>
      </p:sp>
      <p:sp>
        <p:nvSpPr>
          <p:cNvPr id="40" name="How it works panel"/>
          <p:cNvSpPr/>
          <p:nvPr/>
        </p:nvSpPr>
        <p:spPr>
          <a:xfrm>
            <a:off x="6949440" y="4023360"/>
            <a:ext cx="4690872" cy="2103120"/>
          </a:xfrm>
          <a:prstGeom prst="roundRect">
            <a:avLst>
              <a:gd name="adj" fmla="val 7826"/>
            </a:avLst>
          </a:prstGeom>
          <a:solidFill>
            <a:schemeClr val="tx2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726948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Checked before you leave</a:t>
            </a:r>
            <a:endParaRPr lang="en-US" sz="1800" dirty="0"/>
          </a:p>
        </p:txBody>
      </p:sp>
      <p:sp>
        <p:nvSpPr>
          <p:cNvPr id="42" name="Text 35"/>
          <p:cNvSpPr txBox="1"/>
          <p:nvPr/>
        </p:nvSpPr>
        <p:spPr>
          <a:xfrm>
            <a:off x="7269480" y="47091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Forecast is read for each walk between buildings.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Checked again an hour before departure.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Suggestions join your packing list with a Weather tag.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Four signals in, one ready bag out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>
                    <a:alpha val="65000"/>
                  </a:schemeClr>
                </a:solidFill>
              </a:rPr>
              <a:t>What Packwise reads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>
                    <a:alpha val="65000"/>
                  </a:schemeClr>
                </a:solidFill>
              </a:rPr>
              <a:t>What you get</a:t>
            </a:r>
            <a:endParaRPr lang="en-US" sz="1600" dirty="0"/>
          </a:p>
        </p:txBody>
      </p:sp>
      <p:sp>
        <p:nvSpPr>
          <p:cNvPr id="5" name="Input Syllabus and timetable"/>
          <p:cNvSpPr/>
          <p:nvPr/>
        </p:nvSpPr>
        <p:spPr>
          <a:xfrm>
            <a:off x="548640" y="1783080"/>
            <a:ext cx="33832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6" name="Icon circle LuFileText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LuFileText" descr="LuFile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0916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911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Syllabus and timetable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>
                    <a:alpha val="65000"/>
                  </a:schemeClr>
                </a:solidFill>
              </a:rPr>
              <a:t>PDF or Excel upload</a:t>
            </a:r>
            <a:endParaRPr lang="en-US" sz="1200" dirty="0"/>
          </a:p>
        </p:txBody>
      </p:sp>
      <p:sp>
        <p:nvSpPr>
          <p:cNvPr id="10" name="Output Daily packing list"/>
          <p:cNvSpPr/>
          <p:nvPr/>
        </p:nvSpPr>
        <p:spPr>
          <a:xfrm>
            <a:off x="8257032" y="1783080"/>
            <a:ext cx="33832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11" name="Icon circle LuListChecks"/>
          <p:cNvSpPr/>
          <p:nvPr/>
        </p:nvSpPr>
        <p:spPr>
          <a:xfrm>
            <a:off x="8439912" y="19659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LuListChecks" descr="LuList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642" y="20916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125712" y="1911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Daily packing list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9125712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>
                    <a:alpha val="65000"/>
                  </a:schemeClr>
                </a:solidFill>
              </a:rPr>
              <a:t>Essentials plus class items</a:t>
            </a:r>
            <a:endParaRPr lang="en-US" sz="1200" dirty="0"/>
          </a:p>
        </p:txBody>
      </p:sp>
      <p:sp>
        <p:nvSpPr>
          <p:cNvPr id="15" name="Input University email"/>
          <p:cNvSpPr/>
          <p:nvPr/>
        </p:nvSpPr>
        <p:spPr>
          <a:xfrm>
            <a:off x="548640" y="2788920"/>
            <a:ext cx="33832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16" name="Icon circle LuMail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LuMail" descr="LuMa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0975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29169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University email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>
                    <a:alpha val="65000"/>
                  </a:schemeClr>
                </a:solidFill>
              </a:rPr>
              <a:t>Changes and new requirements</a:t>
            </a:r>
            <a:endParaRPr lang="en-US" sz="1200" dirty="0"/>
          </a:p>
        </p:txBody>
      </p:sp>
      <p:sp>
        <p:nvSpPr>
          <p:cNvPr id="20" name="Pill New"/>
          <p:cNvSpPr/>
          <p:nvPr/>
        </p:nvSpPr>
        <p:spPr>
          <a:xfrm>
            <a:off x="3200400" y="2898648"/>
            <a:ext cx="59436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3200400" y="28986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New</a:t>
            </a:r>
            <a:endParaRPr lang="en-US" sz="1100" dirty="0"/>
          </a:p>
        </p:txBody>
      </p:sp>
      <p:sp>
        <p:nvSpPr>
          <p:cNvPr id="22" name="Output Departure reminders"/>
          <p:cNvSpPr/>
          <p:nvPr/>
        </p:nvSpPr>
        <p:spPr>
          <a:xfrm>
            <a:off x="8257032" y="2788920"/>
            <a:ext cx="33832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23" name="Icon circle LuBell"/>
          <p:cNvSpPr/>
          <p:nvPr/>
        </p:nvSpPr>
        <p:spPr>
          <a:xfrm>
            <a:off x="8439912" y="297180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4" name="LuBell" descr="Lu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5642" y="309753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25712" y="2916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Departure reminders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125712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>
                    <a:alpha val="65000"/>
                  </a:schemeClr>
                </a:solidFill>
              </a:rPr>
              <a:t>Push banner or full alarm</a:t>
            </a:r>
            <a:endParaRPr lang="en-US" sz="1200" dirty="0"/>
          </a:p>
        </p:txBody>
      </p:sp>
      <p:sp>
        <p:nvSpPr>
          <p:cNvPr id="27" name="Input Weather forecast"/>
          <p:cNvSpPr/>
          <p:nvPr/>
        </p:nvSpPr>
        <p:spPr>
          <a:xfrm>
            <a:off x="548640" y="3794760"/>
            <a:ext cx="33832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28" name="Icon circle LuCloudSun"/>
          <p:cNvSpPr/>
          <p:nvPr/>
        </p:nvSpPr>
        <p:spPr>
          <a:xfrm>
            <a:off x="731520" y="39776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9" name="LuCloudSun" descr="LuCloudSu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103370"/>
            <a:ext cx="251460" cy="2514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17320" y="3922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Weather forecast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41732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>
                    <a:alpha val="65000"/>
                  </a:schemeClr>
                </a:solidFill>
              </a:rPr>
              <a:t>Rain, heat and cold on your route</a:t>
            </a:r>
            <a:endParaRPr lang="en-US" sz="1200" dirty="0"/>
          </a:p>
        </p:txBody>
      </p:sp>
      <p:sp>
        <p:nvSpPr>
          <p:cNvPr id="32" name="Pill New"/>
          <p:cNvSpPr/>
          <p:nvPr/>
        </p:nvSpPr>
        <p:spPr>
          <a:xfrm>
            <a:off x="3200400" y="3904488"/>
            <a:ext cx="59436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3200400" y="39044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New</a:t>
            </a:r>
            <a:endParaRPr lang="en-US" sz="1100" dirty="0"/>
          </a:p>
        </p:txBody>
      </p:sp>
      <p:sp>
        <p:nvSpPr>
          <p:cNvPr id="34" name="Output Item alerts"/>
          <p:cNvSpPr/>
          <p:nvPr/>
        </p:nvSpPr>
        <p:spPr>
          <a:xfrm>
            <a:off x="8257032" y="3794760"/>
            <a:ext cx="33832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35" name="Icon circle LuUmbrella"/>
          <p:cNvSpPr/>
          <p:nvPr/>
        </p:nvSpPr>
        <p:spPr>
          <a:xfrm>
            <a:off x="8439912" y="39776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6" name="LuUmbrella" descr="LuUmbrell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5642" y="4103370"/>
            <a:ext cx="251460" cy="2514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125712" y="39227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Item alerts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125712" y="4251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>
                    <a:alpha val="65000"/>
                  </a:schemeClr>
                </a:solidFill>
              </a:rPr>
              <a:t>Umbrella, jacket, water bottle</a:t>
            </a:r>
            <a:endParaRPr lang="en-US" sz="1200" dirty="0"/>
          </a:p>
        </p:txBody>
      </p:sp>
      <p:sp>
        <p:nvSpPr>
          <p:cNvPr id="39" name="Input Campus community"/>
          <p:cNvSpPr/>
          <p:nvPr/>
        </p:nvSpPr>
        <p:spPr>
          <a:xfrm>
            <a:off x="548640" y="4800600"/>
            <a:ext cx="33832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40" name="Icon circle LuUsers"/>
          <p:cNvSpPr/>
          <p:nvPr/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1" name="LuUsers" descr="LuUser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5109210"/>
            <a:ext cx="251460" cy="25146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417320" y="4928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Campus community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1417320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>
                    <a:alpha val="65000"/>
                  </a:schemeClr>
                </a:solidFill>
              </a:rPr>
              <a:t>Items posted by other students</a:t>
            </a:r>
            <a:endParaRPr lang="en-US" sz="1200" dirty="0"/>
          </a:p>
        </p:txBody>
      </p:sp>
      <p:sp>
        <p:nvSpPr>
          <p:cNvPr id="44" name="Output Recovered gear"/>
          <p:cNvSpPr/>
          <p:nvPr/>
        </p:nvSpPr>
        <p:spPr>
          <a:xfrm>
            <a:off x="8257032" y="4800600"/>
            <a:ext cx="33832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45" name="Icon circle LuPackageCheck"/>
          <p:cNvSpPr/>
          <p:nvPr/>
        </p:nvSpPr>
        <p:spPr>
          <a:xfrm>
            <a:off x="8439912" y="4983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LuPackageCheck" descr="LuPackage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5642" y="5109210"/>
            <a:ext cx="251460" cy="25146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125712" y="4928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Recovered gear</a:t>
            </a:r>
            <a:endParaRPr lang="en-US" sz="1500" dirty="0"/>
          </a:p>
        </p:txBody>
      </p:sp>
      <p:sp>
        <p:nvSpPr>
          <p:cNvPr id="48" name="Text 38"/>
          <p:cNvSpPr txBox="1"/>
          <p:nvPr/>
        </p:nvSpPr>
        <p:spPr>
          <a:xfrm>
            <a:off x="9125712" y="5257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>
                    <a:alpha val="65000"/>
                  </a:schemeClr>
                </a:solidFill>
              </a:rPr>
              <a:t>Claim items from the feed</a:t>
            </a:r>
            <a:endParaRPr lang="en-US" sz="1200" dirty="0"/>
          </a:p>
        </p:txBody>
      </p:sp>
      <p:sp>
        <p:nvSpPr>
          <p:cNvPr id="49" name="Arrow in"/>
          <p:cNvSpPr/>
          <p:nvPr/>
        </p:nvSpPr>
        <p:spPr>
          <a:xfrm>
            <a:off x="4023360" y="3566160"/>
            <a:ext cx="640080" cy="457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50" name="Arrow out"/>
          <p:cNvSpPr/>
          <p:nvPr/>
        </p:nvSpPr>
        <p:spPr>
          <a:xfrm>
            <a:off x="7498080" y="3566160"/>
            <a:ext cx="640080" cy="457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51" name="Engine panel"/>
          <p:cNvSpPr/>
          <p:nvPr/>
        </p:nvSpPr>
        <p:spPr>
          <a:xfrm>
            <a:off x="4754880" y="1783080"/>
            <a:ext cx="2651760" cy="3886200"/>
          </a:xfrm>
          <a:prstGeom prst="roundRect">
            <a:avLst>
              <a:gd name="adj" fmla="val 8621"/>
            </a:avLst>
          </a:prstGeom>
          <a:solidFill>
            <a:schemeClr val="tx2"/>
          </a:solidFill>
          <a:ln/>
        </p:spPr>
      </p:sp>
      <p:sp>
        <p:nvSpPr>
          <p:cNvPr id="52" name="Icon circle LuSparkles"/>
          <p:cNvSpPr/>
          <p:nvPr/>
        </p:nvSpPr>
        <p:spPr>
          <a:xfrm>
            <a:off x="5669280" y="21945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3" name="LuSparkles" descr="LuSparkle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5020" y="2400300"/>
            <a:ext cx="411480" cy="411480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49377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Packwise engine</a:t>
            </a:r>
            <a:endParaRPr lang="en-US" sz="2000" dirty="0"/>
          </a:p>
        </p:txBody>
      </p:sp>
      <p:sp>
        <p:nvSpPr>
          <p:cNvPr id="55" name="Text 44"/>
          <p:cNvSpPr txBox="1"/>
          <p:nvPr/>
        </p:nvSpPr>
        <p:spPr>
          <a:xfrm>
            <a:off x="4983480" y="3794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>
                    <a:alpha val="85000"/>
                  </a:schemeClr>
                </a:solidFill>
              </a:rPr>
              <a:t>Matches every class, message and forecast to what goes in your bag.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morning with Packwise</a:t>
            </a:r>
            <a:endParaRPr lang="en-US" sz="3400" dirty="0"/>
          </a:p>
        </p:txBody>
      </p:sp>
      <p:sp>
        <p:nvSpPr>
          <p:cNvPr id="3" name="Timeline line"/>
          <p:cNvSpPr/>
          <p:nvPr/>
        </p:nvSpPr>
        <p:spPr>
          <a:xfrm>
            <a:off x="676656" y="2331720"/>
            <a:ext cx="1001268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6:50 AM</a:t>
            </a:r>
            <a:endParaRPr lang="en-US" sz="2200" dirty="0"/>
          </a:p>
        </p:txBody>
      </p:sp>
      <p:sp>
        <p:nvSpPr>
          <p:cNvPr id="5" name="Timeline dot 1"/>
          <p:cNvSpPr/>
          <p:nvPr/>
        </p:nvSpPr>
        <p:spPr>
          <a:xfrm>
            <a:off x="548640" y="2203704"/>
            <a:ext cx="256032" cy="256032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6" name="Timeline card 1"/>
          <p:cNvSpPr/>
          <p:nvPr/>
        </p:nvSpPr>
        <p:spPr>
          <a:xfrm>
            <a:off x="548640" y="2743200"/>
            <a:ext cx="2103120" cy="301752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7" name="Icon circle LuMailCheck"/>
          <p:cNvSpPr/>
          <p:nvPr/>
        </p:nvSpPr>
        <p:spPr>
          <a:xfrm>
            <a:off x="777240" y="29718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LuMailCheck" descr="LuMail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31318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794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Email sync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4348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Bio Lab moved to Lab 6. A printed protocol is added to your list.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78892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7:00 AM</a:t>
            </a:r>
            <a:endParaRPr lang="en-US" sz="2200" dirty="0"/>
          </a:p>
        </p:txBody>
      </p:sp>
      <p:sp>
        <p:nvSpPr>
          <p:cNvPr id="12" name="Timeline dot 2"/>
          <p:cNvSpPr/>
          <p:nvPr/>
        </p:nvSpPr>
        <p:spPr>
          <a:xfrm>
            <a:off x="2788920" y="2203704"/>
            <a:ext cx="256032" cy="256032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3" name="Timeline card 2"/>
          <p:cNvSpPr/>
          <p:nvPr/>
        </p:nvSpPr>
        <p:spPr>
          <a:xfrm>
            <a:off x="2788920" y="2743200"/>
            <a:ext cx="2103120" cy="301752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14" name="Icon circle LuUmbrella"/>
          <p:cNvSpPr/>
          <p:nvPr/>
        </p:nvSpPr>
        <p:spPr>
          <a:xfrm>
            <a:off x="3017520" y="29718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LuUmbrella" descr="LuUmbrel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540" y="31318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017520" y="3794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Weather check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017520" y="44348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Rain expected at 10:15 AM, so an umbrella joins your packing list.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02920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7:30 AM</a:t>
            </a:r>
            <a:endParaRPr lang="en-US" sz="2200" dirty="0"/>
          </a:p>
        </p:txBody>
      </p:sp>
      <p:sp>
        <p:nvSpPr>
          <p:cNvPr id="19" name="Timeline dot 3"/>
          <p:cNvSpPr/>
          <p:nvPr/>
        </p:nvSpPr>
        <p:spPr>
          <a:xfrm>
            <a:off x="5029200" y="2203704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20" name="Timeline card 3"/>
          <p:cNvSpPr/>
          <p:nvPr/>
        </p:nvSpPr>
        <p:spPr>
          <a:xfrm>
            <a:off x="5029200" y="2743200"/>
            <a:ext cx="2103120" cy="301752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21" name="Icon circle LuBell"/>
          <p:cNvSpPr/>
          <p:nvPr/>
        </p:nvSpPr>
        <p:spPr>
          <a:xfrm>
            <a:off x="5257800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LuBell" descr="LuBe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313182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257800" y="3794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Gentle nudge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257800" y="44348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A banner shows which items are still unpacked.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726948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7:45 AM</a:t>
            </a:r>
            <a:endParaRPr lang="en-US" sz="2200" dirty="0"/>
          </a:p>
        </p:txBody>
      </p:sp>
      <p:sp>
        <p:nvSpPr>
          <p:cNvPr id="26" name="Timeline dot 4"/>
          <p:cNvSpPr/>
          <p:nvPr/>
        </p:nvSpPr>
        <p:spPr>
          <a:xfrm>
            <a:off x="7269480" y="2203704"/>
            <a:ext cx="256032" cy="256032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27" name="Timeline card 4"/>
          <p:cNvSpPr/>
          <p:nvPr/>
        </p:nvSpPr>
        <p:spPr>
          <a:xfrm>
            <a:off x="7269480" y="2743200"/>
            <a:ext cx="2103120" cy="301752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28" name="Icon circle LuAlarmClock"/>
          <p:cNvSpPr/>
          <p:nvPr/>
        </p:nvSpPr>
        <p:spPr>
          <a:xfrm>
            <a:off x="7498080" y="29718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9" name="LuAlarmClock" descr="LuAlarm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3131820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498080" y="3794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Full alarm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7498080" y="44348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It asks "Is everything packed?" Tap I’m packed! to head out.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950976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Anytime</a:t>
            </a:r>
            <a:endParaRPr lang="en-US" sz="2200" dirty="0"/>
          </a:p>
        </p:txBody>
      </p:sp>
      <p:sp>
        <p:nvSpPr>
          <p:cNvPr id="33" name="Timeline dot 5"/>
          <p:cNvSpPr/>
          <p:nvPr/>
        </p:nvSpPr>
        <p:spPr>
          <a:xfrm>
            <a:off x="9509760" y="220370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34" name="Timeline card 5"/>
          <p:cNvSpPr/>
          <p:nvPr/>
        </p:nvSpPr>
        <p:spPr>
          <a:xfrm>
            <a:off x="9509760" y="2743200"/>
            <a:ext cx="2103120" cy="301752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35" name="Icon circle LuUsers"/>
          <p:cNvSpPr/>
          <p:nvPr/>
        </p:nvSpPr>
        <p:spPr>
          <a:xfrm>
            <a:off x="9738360" y="2971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LuUsers" descr="Lu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380" y="3131820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738360" y="3794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Still missing something?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9738360" y="44348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>
                    <a:alpha val="65000"/>
                  </a:schemeClr>
                </a:solidFill>
              </a:rPr>
              <a:t>Search the Lost &amp; Found feed or claim an item.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prototype to a campus-ready app</a:t>
            </a:r>
            <a:endParaRPr lang="en-US" sz="3400" dirty="0"/>
          </a:p>
        </p:txBody>
      </p:sp>
      <p:sp>
        <p:nvSpPr>
          <p:cNvPr id="3" name="Phase card 1"/>
          <p:cNvSpPr/>
          <p:nvPr/>
        </p:nvSpPr>
        <p:spPr>
          <a:xfrm>
            <a:off x="548640" y="1463040"/>
            <a:ext cx="3566160" cy="301752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Prototype</a:t>
            </a:r>
            <a:endParaRPr lang="en-US" sz="2000" dirty="0"/>
          </a:p>
        </p:txBody>
      </p:sp>
      <p:sp>
        <p:nvSpPr>
          <p:cNvPr id="5" name="Pill Done"/>
          <p:cNvSpPr/>
          <p:nvPr/>
        </p:nvSpPr>
        <p:spPr>
          <a:xfrm>
            <a:off x="3154680" y="1783080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4680" y="17830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Four core screens: schedule, packing, reminders, lost &amp; found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Clickable React and Tailwind prototype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import flow simulated</a:t>
            </a:r>
            <a:endParaRPr lang="en-US" sz="1400" dirty="0"/>
          </a:p>
        </p:txBody>
      </p:sp>
      <p:sp>
        <p:nvSpPr>
          <p:cNvPr id="8" name="Phase card 2"/>
          <p:cNvSpPr/>
          <p:nvPr/>
        </p:nvSpPr>
        <p:spPr>
          <a:xfrm>
            <a:off x="4297680" y="1463040"/>
            <a:ext cx="3566160" cy="301752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Smart integrations</a:t>
            </a:r>
            <a:endParaRPr lang="en-US" sz="2000" dirty="0"/>
          </a:p>
        </p:txBody>
      </p:sp>
      <p:sp>
        <p:nvSpPr>
          <p:cNvPr id="10" name="Pill Next"/>
          <p:cNvSpPr/>
          <p:nvPr/>
        </p:nvSpPr>
        <p:spPr>
          <a:xfrm>
            <a:off x="6903720" y="1783080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03720" y="17830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Next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77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Email sync for schedule updates (Gmail, Outlook)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Weather alerts for umbrella and jacket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Confirm-before-apply for every change</a:t>
            </a:r>
            <a:endParaRPr lang="en-US" sz="1400" dirty="0"/>
          </a:p>
        </p:txBody>
      </p:sp>
      <p:sp>
        <p:nvSpPr>
          <p:cNvPr id="13" name="Phase card 3"/>
          <p:cNvSpPr/>
          <p:nvPr/>
        </p:nvSpPr>
        <p:spPr>
          <a:xfrm>
            <a:off x="8046720" y="1463040"/>
            <a:ext cx="3566160" cy="301752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B184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2104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Campus scale</a:t>
            </a:r>
            <a:endParaRPr lang="en-US" sz="2000" dirty="0"/>
          </a:p>
        </p:txBody>
      </p:sp>
      <p:sp>
        <p:nvSpPr>
          <p:cNvPr id="15" name="Pill Later"/>
          <p:cNvSpPr/>
          <p:nvPr/>
        </p:nvSpPr>
        <p:spPr>
          <a:xfrm>
            <a:off x="10652760" y="1783080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652760" y="17830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Later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377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Timetable and LMS sync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Moderated campus lost &amp; found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Shared item templates from lecturers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>
                    <a:alpha val="65000"/>
                  </a:schemeClr>
                </a:solidFill>
              </a:rPr>
              <a:t>Built with</a:t>
            </a:r>
            <a:endParaRPr lang="en-US" sz="1600" dirty="0"/>
          </a:p>
        </p:txBody>
      </p:sp>
      <p:sp>
        <p:nvSpPr>
          <p:cNvPr id="19" name="Stack React"/>
          <p:cNvSpPr/>
          <p:nvPr/>
        </p:nvSpPr>
        <p:spPr>
          <a:xfrm>
            <a:off x="548640" y="5303520"/>
            <a:ext cx="118872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03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React</a:t>
            </a:r>
            <a:endParaRPr lang="en-US" sz="1400" dirty="0"/>
          </a:p>
        </p:txBody>
      </p:sp>
      <p:sp>
        <p:nvSpPr>
          <p:cNvPr id="21" name="Stack Tailwind CSS"/>
          <p:cNvSpPr/>
          <p:nvPr/>
        </p:nvSpPr>
        <p:spPr>
          <a:xfrm>
            <a:off x="1828800" y="5303520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828800" y="5303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Tailwind CSS</a:t>
            </a:r>
            <a:endParaRPr lang="en-US" sz="1400" dirty="0"/>
          </a:p>
        </p:txBody>
      </p:sp>
      <p:sp>
        <p:nvSpPr>
          <p:cNvPr id="23" name="Stack Lucide icons"/>
          <p:cNvSpPr/>
          <p:nvPr/>
        </p:nvSpPr>
        <p:spPr>
          <a:xfrm>
            <a:off x="3657600" y="530352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657600" y="5303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Lucide icons</a:t>
            </a:r>
            <a:endParaRPr lang="en-US" sz="1400" dirty="0"/>
          </a:p>
        </p:txBody>
      </p:sp>
      <p:sp>
        <p:nvSpPr>
          <p:cNvPr id="25" name="Stack AI schedule parser"/>
          <p:cNvSpPr/>
          <p:nvPr/>
        </p:nvSpPr>
        <p:spPr>
          <a:xfrm>
            <a:off x="5394960" y="5303520"/>
            <a:ext cx="228600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94960" y="5303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AI schedule parser</a:t>
            </a:r>
            <a:endParaRPr lang="en-US" sz="1400" dirty="0"/>
          </a:p>
        </p:txBody>
      </p:sp>
      <p:sp>
        <p:nvSpPr>
          <p:cNvPr id="27" name="Stack Email API (OAuth)"/>
          <p:cNvSpPr/>
          <p:nvPr/>
        </p:nvSpPr>
        <p:spPr>
          <a:xfrm>
            <a:off x="7772400" y="530352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Email API (OAuth)</a:t>
            </a:r>
            <a:endParaRPr lang="en-US" sz="1400" dirty="0"/>
          </a:p>
        </p:txBody>
      </p:sp>
      <p:sp>
        <p:nvSpPr>
          <p:cNvPr id="29" name="Stack Weather API"/>
          <p:cNvSpPr/>
          <p:nvPr/>
        </p:nvSpPr>
        <p:spPr>
          <a:xfrm>
            <a:off x="10058400" y="530352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58400" y="5303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Weather API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55448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Pack once.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Walk out ready.</a:t>
            </a:r>
            <a:endParaRPr lang="en-US" sz="5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02336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Packwise: the right items for the right class, whatever the morning brings.</a:t>
            </a:r>
            <a:endParaRPr lang="en-US" sz="2000" dirty="0"/>
          </a:p>
        </p:txBody>
      </p:sp>
      <p:sp>
        <p:nvSpPr>
          <p:cNvPr id="4" name="Hero circle"/>
          <p:cNvSpPr/>
          <p:nvPr/>
        </p:nvSpPr>
        <p:spPr>
          <a:xfrm>
            <a:off x="7955280" y="1828800"/>
            <a:ext cx="3291840" cy="3291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Hero circle inner"/>
          <p:cNvSpPr/>
          <p:nvPr/>
        </p:nvSpPr>
        <p:spPr>
          <a:xfrm>
            <a:off x="8412480" y="2286000"/>
            <a:ext cx="2377440" cy="23774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Package check icon" descr="Package 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880360"/>
            <a:ext cx="1188720" cy="1188720"/>
          </a:xfrm>
          <a:prstGeom prst="rect">
            <a:avLst/>
          </a:prstGeom>
        </p:spPr>
      </p:pic>
      <p:sp>
        <p:nvSpPr>
          <p:cNvPr id="7" name="Chip Schedule synced"/>
          <p:cNvSpPr/>
          <p:nvPr/>
        </p:nvSpPr>
        <p:spPr>
          <a:xfrm>
            <a:off x="7040880" y="1234440"/>
            <a:ext cx="2286000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Icon circle LuCalendarDays"/>
          <p:cNvSpPr/>
          <p:nvPr/>
        </p:nvSpPr>
        <p:spPr>
          <a:xfrm>
            <a:off x="7123176" y="13167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LuCalendarDays" descr="LuCalendarDay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173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35240" y="12344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Schedule synced</a:t>
            </a:r>
            <a:endParaRPr lang="en-US" sz="1400" dirty="0"/>
          </a:p>
        </p:txBody>
      </p:sp>
      <p:sp>
        <p:nvSpPr>
          <p:cNvPr id="11" name="Chip Inbox checked"/>
          <p:cNvSpPr/>
          <p:nvPr/>
        </p:nvSpPr>
        <p:spPr>
          <a:xfrm>
            <a:off x="9784080" y="960120"/>
            <a:ext cx="1920240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Icon circle LuMailCheck"/>
          <p:cNvSpPr/>
          <p:nvPr/>
        </p:nvSpPr>
        <p:spPr>
          <a:xfrm>
            <a:off x="9866376" y="1042416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LuMailCheck" descr="LuMail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14300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378440" y="9601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Inbox checked</a:t>
            </a:r>
            <a:endParaRPr lang="en-US" sz="1400" dirty="0"/>
          </a:p>
        </p:txBody>
      </p:sp>
      <p:sp>
        <p:nvSpPr>
          <p:cNvPr id="15" name="Chip Umbrella packed"/>
          <p:cNvSpPr/>
          <p:nvPr/>
        </p:nvSpPr>
        <p:spPr>
          <a:xfrm>
            <a:off x="6949440" y="4754880"/>
            <a:ext cx="2194560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Icon circle LuUmbrella"/>
          <p:cNvSpPr/>
          <p:nvPr/>
        </p:nvSpPr>
        <p:spPr>
          <a:xfrm>
            <a:off x="7031736" y="4837176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LuUmbrella" descr="LuUmbrell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93776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543800" y="475488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Umbrella packed</a:t>
            </a:r>
            <a:endParaRPr lang="en-US" sz="1400" dirty="0"/>
          </a:p>
        </p:txBody>
      </p:sp>
      <p:sp>
        <p:nvSpPr>
          <p:cNvPr id="19" name="Chip All packed"/>
          <p:cNvSpPr/>
          <p:nvPr/>
        </p:nvSpPr>
        <p:spPr>
          <a:xfrm>
            <a:off x="9738360" y="5074920"/>
            <a:ext cx="1783080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Icon circle LuCircleCheck"/>
          <p:cNvSpPr/>
          <p:nvPr/>
        </p:nvSpPr>
        <p:spPr>
          <a:xfrm>
            <a:off x="9820656" y="5157216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LuCircleCheck" descr="LuCircle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525780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332720" y="50749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All packed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ckwise">
  <a:themeElements>
    <a:clrScheme name="Packwise">
      <a:dk1>
        <a:srgbClr val="1B1840"/>
      </a:dk1>
      <a:lt1>
        <a:srgbClr val="FFFFFF"/>
      </a:lt1>
      <a:dk2>
        <a:srgbClr val="2A2090"/>
      </a:dk2>
      <a:lt2>
        <a:srgbClr val="F4F4FA"/>
      </a:lt2>
      <a:accent1>
        <a:srgbClr val="3F33B5"/>
      </a:accent1>
      <a:accent2>
        <a:srgbClr val="6C5FF0"/>
      </a:accent2>
      <a:accent3>
        <a:srgbClr val="15803D"/>
      </a:accent3>
      <a:accent4>
        <a:srgbClr val="D98A00"/>
      </a:accent4>
      <a:accent5>
        <a:srgbClr val="2B7FD9"/>
      </a:accent5>
      <a:accent6>
        <a:srgbClr val="C0392B"/>
      </a:accent6>
      <a:hlink>
        <a:srgbClr val="3F33B5"/>
      </a:hlink>
      <a:folHlink>
        <a:srgbClr val="6C5FF0"/>
      </a:folHlink>
    </a:clrScheme>
    <a:fontScheme name="Packwi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Packwise</dc:title>
  <dc:subject>PptxGenJS Presentation</dc:subject>
  <dc:creator>Packwise team</dc:creator>
  <cp:lastModifiedBy>Packwise team</cp:lastModifiedBy>
  <cp:revision>1</cp:revision>
  <dcterms:created xsi:type="dcterms:W3CDTF">2026-10-03T08:54:16Z</dcterms:created>
  <dcterms:modified xsi:type="dcterms:W3CDTF">2026-10-03T08:54:16Z</dcterms:modified>
</cp:coreProperties>
</file>